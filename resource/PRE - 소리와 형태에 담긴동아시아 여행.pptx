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708" y="3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0188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13" Type="http://schemas.openxmlformats.org/officeDocument/2006/relationships/image" Target="../media/image26.png"/><Relationship Id="rId3" Type="http://schemas.openxmlformats.org/officeDocument/2006/relationships/image" Target="../media/image6.png"/><Relationship Id="rId7" Type="http://schemas.openxmlformats.org/officeDocument/2006/relationships/image" Target="../media/image20.png"/><Relationship Id="rId12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24.png"/><Relationship Id="rId5" Type="http://schemas.openxmlformats.org/officeDocument/2006/relationships/image" Target="../media/image18.png"/><Relationship Id="rId10" Type="http://schemas.openxmlformats.org/officeDocument/2006/relationships/image" Target="../media/image23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13" Type="http://schemas.openxmlformats.org/officeDocument/2006/relationships/image" Target="../media/image36.png"/><Relationship Id="rId18" Type="http://schemas.openxmlformats.org/officeDocument/2006/relationships/image" Target="../media/image41.png"/><Relationship Id="rId3" Type="http://schemas.openxmlformats.org/officeDocument/2006/relationships/image" Target="../media/image6.png"/><Relationship Id="rId21" Type="http://schemas.openxmlformats.org/officeDocument/2006/relationships/image" Target="../media/image44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17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39.png"/><Relationship Id="rId20" Type="http://schemas.openxmlformats.org/officeDocument/2006/relationships/image" Target="../media/image4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5" Type="http://schemas.openxmlformats.org/officeDocument/2006/relationships/image" Target="../media/image38.png"/><Relationship Id="rId10" Type="http://schemas.openxmlformats.org/officeDocument/2006/relationships/image" Target="../media/image33.jpg"/><Relationship Id="rId19" Type="http://schemas.openxmlformats.org/officeDocument/2006/relationships/image" Target="../media/image42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Relationship Id="rId14" Type="http://schemas.openxmlformats.org/officeDocument/2006/relationships/image" Target="../media/image37.png"/><Relationship Id="rId22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5.png"/><Relationship Id="rId3" Type="http://schemas.openxmlformats.org/officeDocument/2006/relationships/image" Target="../media/image6.png"/><Relationship Id="rId7" Type="http://schemas.openxmlformats.org/officeDocument/2006/relationships/image" Target="../media/image49.png"/><Relationship Id="rId12" Type="http://schemas.openxmlformats.org/officeDocument/2006/relationships/image" Target="../media/image54.png"/><Relationship Id="rId17" Type="http://schemas.openxmlformats.org/officeDocument/2006/relationships/image" Target="../media/image5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5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8.png"/><Relationship Id="rId11" Type="http://schemas.openxmlformats.org/officeDocument/2006/relationships/image" Target="../media/image53.png"/><Relationship Id="rId5" Type="http://schemas.openxmlformats.org/officeDocument/2006/relationships/image" Target="../media/image47.png"/><Relationship Id="rId15" Type="http://schemas.openxmlformats.org/officeDocument/2006/relationships/image" Target="../media/image57.png"/><Relationship Id="rId10" Type="http://schemas.openxmlformats.org/officeDocument/2006/relationships/image" Target="../media/image52.png"/><Relationship Id="rId4" Type="http://schemas.openxmlformats.org/officeDocument/2006/relationships/image" Target="../media/image46.png"/><Relationship Id="rId9" Type="http://schemas.openxmlformats.org/officeDocument/2006/relationships/image" Target="../media/image51.png"/><Relationship Id="rId14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png"/><Relationship Id="rId13" Type="http://schemas.openxmlformats.org/officeDocument/2006/relationships/image" Target="../media/image69.png"/><Relationship Id="rId18" Type="http://schemas.openxmlformats.org/officeDocument/2006/relationships/image" Target="../media/image74.png"/><Relationship Id="rId3" Type="http://schemas.openxmlformats.org/officeDocument/2006/relationships/image" Target="../media/image6.png"/><Relationship Id="rId21" Type="http://schemas.openxmlformats.org/officeDocument/2006/relationships/image" Target="../media/image77.png"/><Relationship Id="rId7" Type="http://schemas.openxmlformats.org/officeDocument/2006/relationships/image" Target="../media/image63.png"/><Relationship Id="rId12" Type="http://schemas.openxmlformats.org/officeDocument/2006/relationships/image" Target="../media/image68.png"/><Relationship Id="rId17" Type="http://schemas.openxmlformats.org/officeDocument/2006/relationships/image" Target="../media/image73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2.png"/><Relationship Id="rId20" Type="http://schemas.openxmlformats.org/officeDocument/2006/relationships/image" Target="../media/image7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11" Type="http://schemas.openxmlformats.org/officeDocument/2006/relationships/image" Target="../media/image67.png"/><Relationship Id="rId5" Type="http://schemas.openxmlformats.org/officeDocument/2006/relationships/image" Target="../media/image61.png"/><Relationship Id="rId15" Type="http://schemas.openxmlformats.org/officeDocument/2006/relationships/image" Target="../media/image71.png"/><Relationship Id="rId10" Type="http://schemas.openxmlformats.org/officeDocument/2006/relationships/image" Target="../media/image66.png"/><Relationship Id="rId19" Type="http://schemas.openxmlformats.org/officeDocument/2006/relationships/image" Target="../media/image75.png"/><Relationship Id="rId4" Type="http://schemas.openxmlformats.org/officeDocument/2006/relationships/image" Target="../media/image60.png"/><Relationship Id="rId9" Type="http://schemas.openxmlformats.org/officeDocument/2006/relationships/image" Target="../media/image65.png"/><Relationship Id="rId14" Type="http://schemas.openxmlformats.org/officeDocument/2006/relationships/image" Target="../media/image70.png"/><Relationship Id="rId22" Type="http://schemas.openxmlformats.org/officeDocument/2006/relationships/image" Target="../media/image7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3" Type="http://schemas.openxmlformats.org/officeDocument/2006/relationships/image" Target="../media/image6.png"/><Relationship Id="rId7" Type="http://schemas.openxmlformats.org/officeDocument/2006/relationships/image" Target="../media/image8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5" Type="http://schemas.openxmlformats.org/officeDocument/2006/relationships/image" Target="../media/image80.png"/><Relationship Id="rId10" Type="http://schemas.openxmlformats.org/officeDocument/2006/relationships/image" Target="../media/image85.jpeg"/><Relationship Id="rId4" Type="http://schemas.openxmlformats.org/officeDocument/2006/relationships/image" Target="../media/image79.png"/><Relationship Id="rId9" Type="http://schemas.openxmlformats.org/officeDocument/2006/relationships/image" Target="../media/image8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3" Type="http://schemas.openxmlformats.org/officeDocument/2006/relationships/image" Target="../media/image6.png"/><Relationship Id="rId7" Type="http://schemas.openxmlformats.org/officeDocument/2006/relationships/image" Target="../media/image8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https://picture-search.skywork.ai/aippt/image/sheet/d9f215d9ecfdd68ef117f716dd7cd17b_z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762000"/>
            <a:ext cx="1272183" cy="266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2000" y="4347121"/>
            <a:ext cx="914400" cy="38100"/>
          </a:xfrm>
          <a:prstGeom prst="rect">
            <a:avLst/>
          </a:prstGeom>
        </p:spPr>
      </p:pic>
      <p:sp>
        <p:nvSpPr>
          <p:cNvPr id="7" name="Text 0"/>
          <p:cNvSpPr/>
          <p:nvPr/>
        </p:nvSpPr>
        <p:spPr>
          <a:xfrm>
            <a:off x="914400" y="762000"/>
            <a:ext cx="120729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kern="0" spc="120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한자의 이해</a:t>
            </a:r>
            <a:endParaRPr lang="en-US" sz="1500" dirty="0"/>
          </a:p>
        </p:txBody>
      </p:sp>
      <p:sp>
        <p:nvSpPr>
          <p:cNvPr id="8" name="Text 1"/>
          <p:cNvSpPr/>
          <p:nvPr/>
        </p:nvSpPr>
        <p:spPr>
          <a:xfrm>
            <a:off x="762000" y="1977479"/>
            <a:ext cx="10668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kern="0" spc="-45" dirty="0">
                <a:solidFill>
                  <a:srgbClr val="8B0000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동아시아를 잇는 소리와 형태의 캡슐</a:t>
            </a:r>
            <a:endParaRPr lang="en-US" sz="2250" dirty="0"/>
          </a:p>
        </p:txBody>
      </p:sp>
      <p:sp>
        <p:nvSpPr>
          <p:cNvPr id="9" name="Text 2"/>
          <p:cNvSpPr/>
          <p:nvPr/>
        </p:nvSpPr>
        <p:spPr>
          <a:xfrm>
            <a:off x="762000" y="2472779"/>
            <a:ext cx="10668000" cy="164574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6480"/>
              </a:lnSpc>
              <a:buNone/>
            </a:pPr>
            <a:r>
              <a:rPr lang="en-US" sz="5400" b="1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소리와 형태에 담긴
동아시아 여행</a:t>
            </a:r>
            <a:endParaRPr lang="en-US" sz="5400" dirty="0"/>
          </a:p>
        </p:txBody>
      </p:sp>
      <p:sp>
        <p:nvSpPr>
          <p:cNvPr id="10" name="Text 3"/>
          <p:cNvSpPr/>
          <p:nvPr/>
        </p:nvSpPr>
        <p:spPr>
          <a:xfrm>
            <a:off x="762000" y="4690021"/>
            <a:ext cx="10668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kern="0" spc="45" dirty="0">
                <a:solidFill>
                  <a:srgbClr val="4A4A4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상하이에서 서울까지, 한자의 비밀</a:t>
            </a:r>
            <a:endParaRPr lang="en-US" sz="2250" dirty="0"/>
          </a:p>
        </p:txBody>
      </p:sp>
      <p:sp>
        <p:nvSpPr>
          <p:cNvPr id="11" name="Text 4"/>
          <p:cNvSpPr/>
          <p:nvPr/>
        </p:nvSpPr>
        <p:spPr>
          <a:xfrm>
            <a:off x="762000" y="5600700"/>
            <a:ext cx="32004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kern="0" spc="168" dirty="0">
                <a:solidFill>
                  <a:srgbClr val="66666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REPORT GENERATE DATE</a:t>
            </a:r>
            <a:endParaRPr lang="en-US" sz="1050" dirty="0"/>
          </a:p>
        </p:txBody>
      </p:sp>
      <p:sp>
        <p:nvSpPr>
          <p:cNvPr id="12" name="Text 5"/>
          <p:cNvSpPr/>
          <p:nvPr/>
        </p:nvSpPr>
        <p:spPr>
          <a:xfrm>
            <a:off x="762000" y="5829300"/>
            <a:ext cx="3962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A1A1A"/>
                </a:solidFill>
                <a:latin typeface="Nanum Myeongjo" pitchFamily="34" charset="0"/>
                <a:ea typeface="Nanum Myeongjo" pitchFamily="34" charset="-122"/>
                <a:cs typeface="Nanum Myeongjo" pitchFamily="34" charset="-120"/>
              </a:rPr>
              <a:t>2026. 03. 23</a:t>
            </a:r>
            <a:endParaRPr lang="en-US" sz="1500" dirty="0"/>
          </a:p>
        </p:txBody>
      </p:sp>
      <p:sp>
        <p:nvSpPr>
          <p:cNvPr id="13" name="Text 6"/>
          <p:cNvSpPr/>
          <p:nvPr/>
        </p:nvSpPr>
        <p:spPr>
          <a:xfrm>
            <a:off x="114300" y="5829300"/>
            <a:ext cx="113157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2100"/>
              </a:lnSpc>
              <a:buNone/>
            </a:pPr>
            <a:r>
              <a:rPr lang="en-US" sz="1350" kern="0" spc="-54" dirty="0">
                <a:solidFill>
                  <a:srgbClr val="1A1A1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From Shanghai to Seoul: The Linguistic Secrets of Hanja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575" y="729090"/>
            <a:ext cx="10976811" cy="45722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7575" y="1550858"/>
            <a:ext cx="3496877" cy="1749744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7482" y="1550858"/>
            <a:ext cx="3496878" cy="174974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87389" y="1550858"/>
            <a:ext cx="3496996" cy="174974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7575" y="3770168"/>
            <a:ext cx="10976811" cy="1482862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73474" y="4192622"/>
            <a:ext cx="364545" cy="364545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79800" y="4298710"/>
            <a:ext cx="151894" cy="15236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826091" y="4192622"/>
            <a:ext cx="364545" cy="364545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13430" y="4298710"/>
            <a:ext cx="189867" cy="15236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7575" y="5783352"/>
            <a:ext cx="205056" cy="243030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607575" y="455681"/>
            <a:ext cx="10976811" cy="2126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74"/>
              </a:lnSpc>
              <a:buNone/>
            </a:pPr>
            <a:r>
              <a:rPr lang="en-US" sz="1350" b="1" kern="0" spc="135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01. INTRODUCTION</a:t>
            </a:r>
            <a:endParaRPr lang="en-US" sz="1350" dirty="0"/>
          </a:p>
        </p:txBody>
      </p:sp>
      <p:sp>
        <p:nvSpPr>
          <p:cNvPr id="14" name="Text 1"/>
          <p:cNvSpPr/>
          <p:nvPr/>
        </p:nvSpPr>
        <p:spPr>
          <a:xfrm>
            <a:off x="789847" y="729090"/>
            <a:ext cx="10794539" cy="4572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도입: 동원과 분화 (同源과 分化)</a:t>
            </a:r>
            <a:endParaRPr lang="en-US" sz="3600" dirty="0"/>
          </a:p>
        </p:txBody>
      </p:sp>
      <p:sp>
        <p:nvSpPr>
          <p:cNvPr id="15" name="Text 2"/>
          <p:cNvSpPr/>
          <p:nvPr/>
        </p:nvSpPr>
        <p:spPr>
          <a:xfrm>
            <a:off x="850605" y="1793888"/>
            <a:ext cx="3010817" cy="151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50" b="1" kern="0" spc="-53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중국어 (Chinese)</a:t>
            </a:r>
            <a:endParaRPr lang="en-US" sz="1050" dirty="0"/>
          </a:p>
        </p:txBody>
      </p:sp>
      <p:sp>
        <p:nvSpPr>
          <p:cNvPr id="16" name="Text 3"/>
          <p:cNvSpPr/>
          <p:nvPr/>
        </p:nvSpPr>
        <p:spPr>
          <a:xfrm>
            <a:off x="635798" y="2067297"/>
            <a:ext cx="3440430" cy="685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经济</a:t>
            </a:r>
            <a:endParaRPr lang="en-US" sz="5400" dirty="0"/>
          </a:p>
        </p:txBody>
      </p:sp>
      <p:sp>
        <p:nvSpPr>
          <p:cNvPr id="17" name="Text 4"/>
          <p:cNvSpPr/>
          <p:nvPr/>
        </p:nvSpPr>
        <p:spPr>
          <a:xfrm>
            <a:off x="1495907" y="2783452"/>
            <a:ext cx="1720213" cy="2734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74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Jīngjì</a:t>
            </a:r>
            <a:endParaRPr lang="en-US" sz="1500" dirty="0"/>
          </a:p>
        </p:txBody>
      </p:sp>
      <p:sp>
        <p:nvSpPr>
          <p:cNvPr id="18" name="Text 5"/>
          <p:cNvSpPr/>
          <p:nvPr/>
        </p:nvSpPr>
        <p:spPr>
          <a:xfrm>
            <a:off x="4590512" y="1793888"/>
            <a:ext cx="3010818" cy="151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50" b="1" kern="0" spc="-53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일본어 (Japanese)</a:t>
            </a:r>
            <a:endParaRPr lang="en-US" sz="1050" dirty="0"/>
          </a:p>
        </p:txBody>
      </p:sp>
      <p:sp>
        <p:nvSpPr>
          <p:cNvPr id="19" name="Text 6"/>
          <p:cNvSpPr/>
          <p:nvPr/>
        </p:nvSpPr>
        <p:spPr>
          <a:xfrm>
            <a:off x="4375706" y="2067297"/>
            <a:ext cx="3440430" cy="685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5400"/>
              </a:lnSpc>
            </a:pPr>
            <a:r>
              <a:rPr lang="zh-CN" altLang="en-US" sz="54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経済</a:t>
            </a:r>
            <a:endParaRPr lang="en-US" sz="5400" dirty="0"/>
          </a:p>
        </p:txBody>
      </p:sp>
      <p:sp>
        <p:nvSpPr>
          <p:cNvPr id="20" name="Text 7"/>
          <p:cNvSpPr/>
          <p:nvPr/>
        </p:nvSpPr>
        <p:spPr>
          <a:xfrm>
            <a:off x="5235815" y="2783452"/>
            <a:ext cx="1720213" cy="2734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74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Keizai</a:t>
            </a:r>
            <a:endParaRPr lang="en-US" sz="1500" dirty="0"/>
          </a:p>
        </p:txBody>
      </p:sp>
      <p:sp>
        <p:nvSpPr>
          <p:cNvPr id="21" name="Text 8"/>
          <p:cNvSpPr/>
          <p:nvPr/>
        </p:nvSpPr>
        <p:spPr>
          <a:xfrm>
            <a:off x="8330419" y="1793888"/>
            <a:ext cx="3010936" cy="151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196"/>
              </a:lnSpc>
              <a:buNone/>
            </a:pPr>
            <a:r>
              <a:rPr lang="en-US" sz="1050" b="1" kern="0" spc="-53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(Korean)</a:t>
            </a:r>
            <a:endParaRPr lang="en-US" sz="1050" dirty="0"/>
          </a:p>
        </p:txBody>
      </p:sp>
      <p:sp>
        <p:nvSpPr>
          <p:cNvPr id="22" name="Text 9"/>
          <p:cNvSpPr/>
          <p:nvPr/>
        </p:nvSpPr>
        <p:spPr>
          <a:xfrm>
            <a:off x="8330419" y="2067297"/>
            <a:ext cx="3010936" cy="68577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algn="ctr">
              <a:lnSpc>
                <a:spcPts val="5400"/>
              </a:lnSpc>
            </a:pPr>
            <a:r>
              <a:rPr lang="en-US" sz="4800" b="1" dirty="0" err="1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경제</a:t>
            </a:r>
            <a:r>
              <a:rPr lang="en-US" sz="4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</a:t>
            </a:r>
            <a:r>
              <a:rPr lang="zh-CN" altLang="en-US" sz="4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經濟</a:t>
            </a:r>
            <a:r>
              <a:rPr lang="en-US" sz="4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)</a:t>
            </a:r>
            <a:endParaRPr lang="en-US" sz="4800" dirty="0"/>
          </a:p>
        </p:txBody>
      </p:sp>
      <p:sp>
        <p:nvSpPr>
          <p:cNvPr id="23" name="Text 10"/>
          <p:cNvSpPr/>
          <p:nvPr/>
        </p:nvSpPr>
        <p:spPr>
          <a:xfrm>
            <a:off x="8545669" y="2783452"/>
            <a:ext cx="2580319" cy="27340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674"/>
              </a:lnSpc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Gyeong-je</a:t>
            </a:r>
            <a:endParaRPr lang="en-US" sz="1500" dirty="0"/>
          </a:p>
        </p:txBody>
      </p:sp>
      <p:sp>
        <p:nvSpPr>
          <p:cNvPr id="24" name="Text 11"/>
          <p:cNvSpPr/>
          <p:nvPr/>
        </p:nvSpPr>
        <p:spPr>
          <a:xfrm>
            <a:off x="2735510" y="4678682"/>
            <a:ext cx="2207605" cy="151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96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COMMON ROOT</a:t>
            </a:r>
            <a:endParaRPr lang="en-US" sz="1050" dirty="0"/>
          </a:p>
        </p:txBody>
      </p:sp>
      <p:sp>
        <p:nvSpPr>
          <p:cNvPr id="25" name="Text 12"/>
          <p:cNvSpPr/>
          <p:nvPr/>
        </p:nvSpPr>
        <p:spPr>
          <a:xfrm>
            <a:off x="3301105" y="4073955"/>
            <a:ext cx="5734050" cy="571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500"/>
              </a:lnSpc>
              <a:buNone/>
            </a:pPr>
            <a:r>
              <a:rPr lang="en-US" sz="4500" b="1" kern="0" spc="451" dirty="0">
                <a:solidFill>
                  <a:srgbClr val="A52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經世濟民</a:t>
            </a:r>
            <a:endParaRPr lang="en-US" sz="4500" dirty="0"/>
          </a:p>
        </p:txBody>
      </p:sp>
      <p:sp>
        <p:nvSpPr>
          <p:cNvPr id="26" name="Text 13"/>
          <p:cNvSpPr/>
          <p:nvPr/>
        </p:nvSpPr>
        <p:spPr>
          <a:xfrm>
            <a:off x="2039614" y="4706212"/>
            <a:ext cx="8257032" cy="24303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14"/>
              </a:lnSpc>
              <a:buNone/>
            </a:pPr>
            <a:r>
              <a:rPr lang="en-US" sz="1800" kern="0" spc="-4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세상을 다스리고 백성을 구제한다 : </a:t>
            </a:r>
            <a:r>
              <a:rPr lang="en-US" sz="1800" b="1" kern="0" spc="-45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경세제민</a:t>
            </a:r>
            <a:endParaRPr lang="en-US" sz="1800" dirty="0"/>
          </a:p>
        </p:txBody>
      </p:sp>
      <p:sp>
        <p:nvSpPr>
          <p:cNvPr id="27" name="Text 14"/>
          <p:cNvSpPr/>
          <p:nvPr/>
        </p:nvSpPr>
        <p:spPr>
          <a:xfrm>
            <a:off x="8560277" y="4678682"/>
            <a:ext cx="2006914" cy="151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96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CONNECTION</a:t>
            </a:r>
            <a:endParaRPr lang="en-US" sz="1050" dirty="0"/>
          </a:p>
        </p:txBody>
      </p:sp>
      <p:sp>
        <p:nvSpPr>
          <p:cNvPr id="28" name="Text 15"/>
          <p:cNvSpPr/>
          <p:nvPr/>
        </p:nvSpPr>
        <p:spPr>
          <a:xfrm>
            <a:off x="934146" y="5783352"/>
            <a:ext cx="4215050" cy="6189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37"/>
              </a:lnSpc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한자는 단순한 글자를 넘어, 동아시아 삼국이 공유하는
</a:t>
            </a:r>
            <a:r>
              <a:rPr lang="en-US" sz="15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‘사유의 도구’</a:t>
            </a: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로서 우리의 문화를 연결합니다.</a:t>
            </a:r>
            <a:endParaRPr lang="en-US" sz="1500" dirty="0"/>
          </a:p>
        </p:txBody>
      </p:sp>
      <p:sp>
        <p:nvSpPr>
          <p:cNvPr id="29" name="Text 16"/>
          <p:cNvSpPr/>
          <p:nvPr/>
        </p:nvSpPr>
        <p:spPr>
          <a:xfrm>
            <a:off x="4359497" y="6189668"/>
            <a:ext cx="7224889" cy="15189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196"/>
              </a:lnSpc>
              <a:buNone/>
            </a:pPr>
            <a:r>
              <a:rPr lang="en-US" sz="105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형태는 조금씩 다르지만, 본질적인 사상은 하나로 이어져 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8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748" y="615297"/>
            <a:ext cx="11166482" cy="45716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83383" y="1422574"/>
            <a:ext cx="820396" cy="82039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88198" y="1422574"/>
            <a:ext cx="820396" cy="820396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69468" y="2830528"/>
            <a:ext cx="5653043" cy="175445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748" y="4841360"/>
            <a:ext cx="3585428" cy="794759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03275" y="4841360"/>
            <a:ext cx="3585429" cy="794759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93802" y="4841360"/>
            <a:ext cx="3585428" cy="794759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707055" y="4995184"/>
            <a:ext cx="358924" cy="230736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2748" y="5986329"/>
            <a:ext cx="11166482" cy="48711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66572" y="6152972"/>
            <a:ext cx="307649" cy="153824"/>
          </a:xfrm>
          <a:prstGeom prst="rect">
            <a:avLst/>
          </a:prstGeom>
        </p:spPr>
      </p:pic>
      <p:sp>
        <p:nvSpPr>
          <p:cNvPr id="13" name="Text 0"/>
          <p:cNvSpPr/>
          <p:nvPr/>
        </p:nvSpPr>
        <p:spPr>
          <a:xfrm>
            <a:off x="512748" y="384561"/>
            <a:ext cx="11166482" cy="1794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13"/>
              </a:lnSpc>
              <a:buNone/>
            </a:pPr>
            <a:r>
              <a:rPr lang="en-US" sz="1350" b="1" kern="0" spc="160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02. ICEBREAKING</a:t>
            </a:r>
            <a:endParaRPr lang="en-US" sz="1350" dirty="0"/>
          </a:p>
        </p:txBody>
      </p:sp>
      <p:sp>
        <p:nvSpPr>
          <p:cNvPr id="14" name="Text 1"/>
          <p:cNvSpPr/>
          <p:nvPr/>
        </p:nvSpPr>
        <p:spPr>
          <a:xfrm>
            <a:off x="666572" y="615297"/>
            <a:ext cx="10937882" cy="4571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사투리의 함정</a:t>
            </a:r>
            <a:endParaRPr lang="en-US" sz="3600" dirty="0"/>
          </a:p>
        </p:txBody>
      </p:sp>
      <p:sp>
        <p:nvSpPr>
          <p:cNvPr id="15" name="Text 2"/>
          <p:cNvSpPr/>
          <p:nvPr/>
        </p:nvSpPr>
        <p:spPr>
          <a:xfrm>
            <a:off x="4724389" y="2345520"/>
            <a:ext cx="1630682" cy="2286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LISTEN</a:t>
            </a:r>
            <a:endParaRPr lang="en-US" sz="1200" dirty="0"/>
          </a:p>
        </p:txBody>
      </p:sp>
      <p:sp>
        <p:nvSpPr>
          <p:cNvPr id="16" name="Text 3"/>
          <p:cNvSpPr/>
          <p:nvPr/>
        </p:nvSpPr>
        <p:spPr>
          <a:xfrm>
            <a:off x="5813978" y="1769781"/>
            <a:ext cx="1630679" cy="4571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VS</a:t>
            </a:r>
            <a:endParaRPr lang="en-US" sz="3600" dirty="0"/>
          </a:p>
        </p:txBody>
      </p:sp>
      <p:sp>
        <p:nvSpPr>
          <p:cNvPr id="17" name="Text 4"/>
          <p:cNvSpPr/>
          <p:nvPr/>
        </p:nvSpPr>
        <p:spPr>
          <a:xfrm>
            <a:off x="6945227" y="2345520"/>
            <a:ext cx="1358901" cy="2286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GUESS</a:t>
            </a:r>
            <a:endParaRPr lang="en-US" sz="1200" dirty="0"/>
          </a:p>
        </p:txBody>
      </p:sp>
      <p:sp>
        <p:nvSpPr>
          <p:cNvPr id="18" name="Text 5"/>
          <p:cNvSpPr/>
          <p:nvPr/>
        </p:nvSpPr>
        <p:spPr>
          <a:xfrm>
            <a:off x="2019292" y="3086901"/>
            <a:ext cx="8153394" cy="17946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13"/>
              </a:lnSpc>
              <a:buNone/>
            </a:pPr>
            <a:r>
              <a:rPr lang="en-US" sz="1500" kern="0" spc="-89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 문장은 어느 나라 말처럼 들리시나요?"</a:t>
            </a:r>
            <a:endParaRPr lang="en-US" sz="1500" dirty="0"/>
          </a:p>
        </p:txBody>
      </p:sp>
      <p:sp>
        <p:nvSpPr>
          <p:cNvPr id="19" name="Text 6"/>
          <p:cNvSpPr/>
          <p:nvPr/>
        </p:nvSpPr>
        <p:spPr>
          <a:xfrm>
            <a:off x="-426728" y="3368912"/>
            <a:ext cx="13045434" cy="6285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4950"/>
              </a:lnSpc>
              <a:buNone/>
            </a:pPr>
            <a:r>
              <a:rPr lang="en-US" sz="3600" b="1" dirty="0">
                <a:solidFill>
                  <a:srgbClr val="A52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"하쯔 메 와, 하다 시 와"</a:t>
            </a:r>
            <a:endParaRPr lang="en-US" sz="3600" dirty="0"/>
          </a:p>
        </p:txBody>
      </p:sp>
      <p:sp>
        <p:nvSpPr>
          <p:cNvPr id="20" name="Text 7"/>
          <p:cNvSpPr/>
          <p:nvPr/>
        </p:nvSpPr>
        <p:spPr>
          <a:xfrm>
            <a:off x="2291065" y="4099979"/>
            <a:ext cx="7609847" cy="2286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(Ha tsu me wa, ha da shi wa)</a:t>
            </a:r>
            <a:endParaRPr lang="en-US" sz="1200" dirty="0"/>
          </a:p>
        </p:txBody>
      </p:sp>
      <p:sp>
        <p:nvSpPr>
          <p:cNvPr id="21" name="Text 8"/>
          <p:cNvSpPr/>
          <p:nvPr/>
        </p:nvSpPr>
        <p:spPr>
          <a:xfrm>
            <a:off x="2020246" y="5302833"/>
            <a:ext cx="1223010" cy="1794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13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일본어?</a:t>
            </a:r>
            <a:endParaRPr lang="en-US" sz="1350" dirty="0"/>
          </a:p>
        </p:txBody>
      </p:sp>
      <p:sp>
        <p:nvSpPr>
          <p:cNvPr id="22" name="Text 9"/>
          <p:cNvSpPr/>
          <p:nvPr/>
        </p:nvSpPr>
        <p:spPr>
          <a:xfrm>
            <a:off x="5547990" y="5302833"/>
            <a:ext cx="2446020" cy="1794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13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 사투리?</a:t>
            </a:r>
            <a:endParaRPr lang="en-US" sz="1350" dirty="0"/>
          </a:p>
        </p:txBody>
      </p:sp>
      <p:sp>
        <p:nvSpPr>
          <p:cNvPr id="23" name="Text 10"/>
          <p:cNvSpPr/>
          <p:nvPr/>
        </p:nvSpPr>
        <p:spPr>
          <a:xfrm>
            <a:off x="9431453" y="5302833"/>
            <a:ext cx="2140267" cy="1794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13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중국 상해어!</a:t>
            </a:r>
            <a:endParaRPr lang="en-US" sz="1350" dirty="0"/>
          </a:p>
        </p:txBody>
      </p:sp>
      <p:sp>
        <p:nvSpPr>
          <p:cNvPr id="24" name="Text 11"/>
          <p:cNvSpPr/>
          <p:nvPr/>
        </p:nvSpPr>
        <p:spPr>
          <a:xfrm>
            <a:off x="717847" y="6152972"/>
            <a:ext cx="205722" cy="1538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807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의미</a:t>
            </a:r>
            <a:endParaRPr lang="en-US" sz="900" dirty="0"/>
          </a:p>
        </p:txBody>
      </p:sp>
      <p:sp>
        <p:nvSpPr>
          <p:cNvPr id="25" name="Text 12"/>
          <p:cNvSpPr/>
          <p:nvPr/>
        </p:nvSpPr>
        <p:spPr>
          <a:xfrm>
            <a:off x="1076770" y="6071251"/>
            <a:ext cx="10883001" cy="24836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13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"신발은 안 망가졌는데, 신발 끈이 먼저 망가졌다 (鞋子没坏，鞋带先坏)"</a:t>
            </a:r>
            <a:endParaRPr lang="en-US" sz="1350" dirty="0"/>
          </a:p>
        </p:txBody>
      </p:sp>
      <p:sp>
        <p:nvSpPr>
          <p:cNvPr id="26" name="Text 13"/>
          <p:cNvSpPr/>
          <p:nvPr/>
        </p:nvSpPr>
        <p:spPr>
          <a:xfrm>
            <a:off x="8307914" y="6097593"/>
            <a:ext cx="3884064" cy="1963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009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지리적으로 먼 상하이어가 왜 우리에게 익숙하게 들릴까요?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72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74" y="755009"/>
            <a:ext cx="10933623" cy="457257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174" y="2246595"/>
            <a:ext cx="4408767" cy="197256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0844" y="2509816"/>
            <a:ext cx="228076" cy="22856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0844" y="3621439"/>
            <a:ext cx="841521" cy="34604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848200" y="3621439"/>
            <a:ext cx="794332" cy="34604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68367" y="3621439"/>
            <a:ext cx="841520" cy="346046"/>
          </a:xfrm>
          <a:prstGeom prst="rect">
            <a:avLst/>
          </a:prstGeom>
        </p:spPr>
      </p:pic>
      <p:pic>
        <p:nvPicPr>
          <p:cNvPr id="9" name="Image 7" descr="https://picture-search.skywork.ai/aippt/image/sheet/bb31d755c5dfebbcdc1e99f905a60e3d.jp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9174" y="4407907"/>
            <a:ext cx="4408767" cy="125834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89611" y="1526854"/>
            <a:ext cx="6273065" cy="880844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478363" y="1715606"/>
            <a:ext cx="503340" cy="50333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43521" y="1841441"/>
            <a:ext cx="173023" cy="25167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84579" y="2933525"/>
            <a:ext cx="283128" cy="283128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289611" y="3616646"/>
            <a:ext cx="6273065" cy="1824605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060085" y="3490811"/>
            <a:ext cx="2732116" cy="220211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5541280" y="3994151"/>
            <a:ext cx="1797325" cy="119543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298379" y="4119986"/>
            <a:ext cx="283129" cy="25167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527358" y="3994151"/>
            <a:ext cx="1797448" cy="1195431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1982" y="4119986"/>
            <a:ext cx="228076" cy="25167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298183" y="4119986"/>
            <a:ext cx="228076" cy="25167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5289611" y="5998538"/>
            <a:ext cx="149429" cy="152378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629174" y="471881"/>
            <a:ext cx="10933623" cy="2202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34"/>
              </a:lnSpc>
              <a:buNone/>
            </a:pPr>
            <a:r>
              <a:rPr lang="en-US" sz="1350" b="1" i="1" kern="0" spc="131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02. CORE PRINCIPLE</a:t>
            </a:r>
            <a:endParaRPr lang="en-US" sz="1350" dirty="0"/>
          </a:p>
        </p:txBody>
      </p:sp>
      <p:sp>
        <p:nvSpPr>
          <p:cNvPr id="23" name="Text 1"/>
          <p:cNvSpPr/>
          <p:nvPr/>
        </p:nvSpPr>
        <p:spPr>
          <a:xfrm>
            <a:off x="817927" y="755009"/>
            <a:ext cx="11059707" cy="45725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시공간의 캡슐과 발음의 연결고리</a:t>
            </a:r>
            <a:endParaRPr lang="en-US" sz="3600" dirty="0"/>
          </a:p>
        </p:txBody>
      </p:sp>
      <p:sp>
        <p:nvSpPr>
          <p:cNvPr id="24" name="Text 2"/>
          <p:cNvSpPr/>
          <p:nvPr/>
        </p:nvSpPr>
        <p:spPr>
          <a:xfrm>
            <a:off x="1203296" y="2498264"/>
            <a:ext cx="3905427" cy="25167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82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입성(入聲)이란?</a:t>
            </a:r>
            <a:endParaRPr lang="en-US" sz="1800" dirty="0"/>
          </a:p>
        </p:txBody>
      </p:sp>
      <p:sp>
        <p:nvSpPr>
          <p:cNvPr id="25" name="Text 3"/>
          <p:cNvSpPr/>
          <p:nvPr/>
        </p:nvSpPr>
        <p:spPr>
          <a:xfrm>
            <a:off x="880844" y="2875769"/>
            <a:ext cx="3905427" cy="55691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194"/>
              </a:lnSpc>
              <a:buNone/>
            </a:pP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고대 한어의 네 가지 성조 중 하나로,
</a:t>
            </a:r>
            <a:r>
              <a:rPr lang="en-US" sz="1350" b="1" dirty="0">
                <a:solidFill>
                  <a:srgbClr val="000000"/>
                </a:solidFill>
                <a:highlight>
                  <a:srgbClr val="FEF3C7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짧고 끊어지는 받침 소리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의미합니다.</a:t>
            </a:r>
            <a:endParaRPr lang="en-US" sz="1350" dirty="0"/>
          </a:p>
        </p:txBody>
      </p:sp>
      <p:sp>
        <p:nvSpPr>
          <p:cNvPr id="26" name="Text 4"/>
          <p:cNvSpPr/>
          <p:nvPr/>
        </p:nvSpPr>
        <p:spPr>
          <a:xfrm>
            <a:off x="1006679" y="3621439"/>
            <a:ext cx="1059484" cy="3460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34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-k (ㄱ)</a:t>
            </a:r>
            <a:endParaRPr lang="en-US" sz="1500" dirty="0"/>
          </a:p>
        </p:txBody>
      </p:sp>
      <p:sp>
        <p:nvSpPr>
          <p:cNvPr id="27" name="Text 5"/>
          <p:cNvSpPr/>
          <p:nvPr/>
        </p:nvSpPr>
        <p:spPr>
          <a:xfrm>
            <a:off x="1974034" y="3621439"/>
            <a:ext cx="1023741" cy="3460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34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-t (ㄷ)</a:t>
            </a:r>
            <a:endParaRPr lang="en-US" sz="1500" dirty="0"/>
          </a:p>
        </p:txBody>
      </p:sp>
      <p:sp>
        <p:nvSpPr>
          <p:cNvPr id="28" name="Text 6"/>
          <p:cNvSpPr/>
          <p:nvPr/>
        </p:nvSpPr>
        <p:spPr>
          <a:xfrm>
            <a:off x="2894202" y="3621439"/>
            <a:ext cx="1059484" cy="34604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34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-p (ㅂ)</a:t>
            </a:r>
            <a:endParaRPr lang="en-US" sz="1500" dirty="0"/>
          </a:p>
        </p:txBody>
      </p:sp>
      <p:sp>
        <p:nvSpPr>
          <p:cNvPr id="29" name="Text 7"/>
          <p:cNvSpPr/>
          <p:nvPr/>
        </p:nvSpPr>
        <p:spPr>
          <a:xfrm>
            <a:off x="1901778" y="4922797"/>
            <a:ext cx="3765300" cy="2285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kern="0" spc="116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PHONETIC WAVEFORM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6170455" y="1742886"/>
            <a:ext cx="4152896" cy="2202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34"/>
              </a:lnSpc>
              <a:buNone/>
            </a:pPr>
            <a:r>
              <a:rPr lang="en-US" sz="15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현대 중국 표준어 (보통화)</a:t>
            </a:r>
            <a:endParaRPr lang="en-US" sz="1500" dirty="0"/>
          </a:p>
        </p:txBody>
      </p:sp>
      <p:sp>
        <p:nvSpPr>
          <p:cNvPr id="31" name="Text 9"/>
          <p:cNvSpPr/>
          <p:nvPr/>
        </p:nvSpPr>
        <p:spPr>
          <a:xfrm>
            <a:off x="6170455" y="1963098"/>
            <a:ext cx="5315718" cy="2285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고대 한어의 입성 발음이 역사 속으로 소멸됨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7248838" y="3490811"/>
            <a:ext cx="4034276" cy="2202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39"/>
              </a:lnSpc>
              <a:buNone/>
            </a:pPr>
            <a:r>
              <a:rPr lang="en-US" sz="1050" b="1" kern="0" spc="102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TIME CAPSULE PRESERVATION</a:t>
            </a:r>
            <a:endParaRPr lang="en-US" sz="1050" dirty="0"/>
          </a:p>
        </p:txBody>
      </p:sp>
      <p:sp>
        <p:nvSpPr>
          <p:cNvPr id="33" name="Text 11"/>
          <p:cNvSpPr/>
          <p:nvPr/>
        </p:nvSpPr>
        <p:spPr>
          <a:xfrm>
            <a:off x="5609364" y="4466031"/>
            <a:ext cx="1661158" cy="2202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34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상하이 방언</a:t>
            </a:r>
            <a:endParaRPr lang="en-US" sz="1500" dirty="0"/>
          </a:p>
        </p:txBody>
      </p:sp>
      <p:sp>
        <p:nvSpPr>
          <p:cNvPr id="34" name="Text 12"/>
          <p:cNvSpPr/>
          <p:nvPr/>
        </p:nvSpPr>
        <p:spPr>
          <a:xfrm>
            <a:off x="5667116" y="4749160"/>
            <a:ext cx="1545655" cy="314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39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고대 입성의
원형 유지</a:t>
            </a:r>
            <a:endParaRPr lang="en-US" sz="1050" dirty="0"/>
          </a:p>
        </p:txBody>
      </p:sp>
      <p:sp>
        <p:nvSpPr>
          <p:cNvPr id="35" name="Text 13"/>
          <p:cNvSpPr/>
          <p:nvPr/>
        </p:nvSpPr>
        <p:spPr>
          <a:xfrm>
            <a:off x="7595502" y="4466031"/>
            <a:ext cx="1661158" cy="2202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34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 한자음</a:t>
            </a:r>
            <a:endParaRPr lang="en-US" sz="1500" dirty="0"/>
          </a:p>
        </p:txBody>
      </p:sp>
      <p:sp>
        <p:nvSpPr>
          <p:cNvPr id="36" name="Text 14"/>
          <p:cNvSpPr/>
          <p:nvPr/>
        </p:nvSpPr>
        <p:spPr>
          <a:xfrm>
            <a:off x="7653193" y="4749160"/>
            <a:ext cx="1545778" cy="314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39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받침(ㄱ, ㄹ, ㅂ)
형태로 보존</a:t>
            </a:r>
            <a:endParaRPr lang="en-US" sz="1050" dirty="0"/>
          </a:p>
        </p:txBody>
      </p:sp>
      <p:sp>
        <p:nvSpPr>
          <p:cNvPr id="37" name="Text 15"/>
          <p:cNvSpPr/>
          <p:nvPr/>
        </p:nvSpPr>
        <p:spPr>
          <a:xfrm>
            <a:off x="9581703" y="4466031"/>
            <a:ext cx="1661158" cy="22021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34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일본어 음독</a:t>
            </a:r>
            <a:endParaRPr lang="en-US" sz="1500" dirty="0"/>
          </a:p>
        </p:txBody>
      </p:sp>
      <p:sp>
        <p:nvSpPr>
          <p:cNvPr id="38" name="Text 16"/>
          <p:cNvSpPr/>
          <p:nvPr/>
        </p:nvSpPr>
        <p:spPr>
          <a:xfrm>
            <a:off x="9639393" y="4749160"/>
            <a:ext cx="1545778" cy="3145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39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つ(-t), く(-k) 등
변형된 입성</a:t>
            </a:r>
            <a:endParaRPr lang="en-US" sz="1050" dirty="0"/>
          </a:p>
        </p:txBody>
      </p:sp>
      <p:sp>
        <p:nvSpPr>
          <p:cNvPr id="39" name="Text 17"/>
          <p:cNvSpPr/>
          <p:nvPr/>
        </p:nvSpPr>
        <p:spPr>
          <a:xfrm>
            <a:off x="5564875" y="5967079"/>
            <a:ext cx="5143499" cy="4190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50"/>
              </a:lnSpc>
              <a:buNone/>
            </a:pP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발음의 유사성은 우연이 아닌, 고대 한어의 소리가 각 지역으로 전파되어 굳어진
</a:t>
            </a:r>
            <a:r>
              <a:rPr lang="en-US" sz="1200" b="1" i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언어학적 화석</a:t>
            </a:r>
            <a:r>
              <a:rPr lang="en-US" sz="120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같습니다.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34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248" y="623455"/>
            <a:ext cx="10975437" cy="304124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8248" y="1170878"/>
            <a:ext cx="10975437" cy="471868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9898" y="1300368"/>
            <a:ext cx="190078" cy="212887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248" y="1825220"/>
            <a:ext cx="10975437" cy="3769714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8248" y="1825220"/>
            <a:ext cx="10975437" cy="456186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8248" y="2944064"/>
            <a:ext cx="10975437" cy="66265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87427" y="2944064"/>
            <a:ext cx="2005794" cy="662658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093221" y="2944064"/>
            <a:ext cx="2313482" cy="66265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08248" y="3606723"/>
            <a:ext cx="10975437" cy="66265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8248" y="4269381"/>
            <a:ext cx="10975437" cy="662658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08248" y="4932038"/>
            <a:ext cx="10975437" cy="662896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08248" y="5777409"/>
            <a:ext cx="5366010" cy="700436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17557" y="5884327"/>
            <a:ext cx="5366129" cy="48659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39207" y="6005977"/>
            <a:ext cx="228093" cy="2433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608248" y="380155"/>
            <a:ext cx="10975437" cy="2128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76"/>
              </a:lnSpc>
              <a:buNone/>
            </a:pPr>
            <a:r>
              <a:rPr lang="en-US" sz="1350" b="1" kern="0" spc="135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ANALYSIS</a:t>
            </a:r>
            <a:endParaRPr lang="en-US" sz="1350" dirty="0"/>
          </a:p>
        </p:txBody>
      </p:sp>
      <p:sp>
        <p:nvSpPr>
          <p:cNvPr id="18" name="Text 1"/>
          <p:cNvSpPr/>
          <p:nvPr/>
        </p:nvSpPr>
        <p:spPr>
          <a:xfrm>
            <a:off x="790723" y="623455"/>
            <a:ext cx="10746837" cy="30412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395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발음 비교 분석 ① 주요 한자어와 입성</a:t>
            </a:r>
            <a:endParaRPr lang="en-US" sz="2700" dirty="0"/>
          </a:p>
        </p:txBody>
      </p:sp>
      <p:sp>
        <p:nvSpPr>
          <p:cNvPr id="19" name="Text 2"/>
          <p:cNvSpPr/>
          <p:nvPr/>
        </p:nvSpPr>
        <p:spPr>
          <a:xfrm>
            <a:off x="1041625" y="1292528"/>
            <a:ext cx="10582927" cy="22072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한국어의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받침(ㄱ, ㄹ, ㅂ)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상하이어·일본어의 </a:t>
            </a:r>
            <a:r>
              <a:rPr lang="en-US" sz="12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입성(入聲)</a:t>
            </a: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특징이 일치하는 단어들입니다.</a:t>
            </a:r>
            <a:endParaRPr lang="en-US" sz="1200" dirty="0"/>
          </a:p>
        </p:txBody>
      </p:sp>
      <p:sp>
        <p:nvSpPr>
          <p:cNvPr id="20" name="Text 3"/>
          <p:cNvSpPr/>
          <p:nvPr/>
        </p:nvSpPr>
        <p:spPr>
          <a:xfrm>
            <a:off x="9698117" y="1338145"/>
            <a:ext cx="1885570" cy="14469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97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빨간색 강조: 입성 발음의 흔적</a:t>
            </a:r>
            <a:endParaRPr lang="en-US" sz="1050" dirty="0"/>
          </a:p>
        </p:txBody>
      </p:sp>
      <p:sp>
        <p:nvSpPr>
          <p:cNvPr id="21" name="Text 4"/>
          <p:cNvSpPr/>
          <p:nvPr/>
        </p:nvSpPr>
        <p:spPr>
          <a:xfrm>
            <a:off x="851548" y="1825220"/>
            <a:ext cx="2154646" cy="4561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한자 (Hanja)</a:t>
            </a:r>
            <a:endParaRPr lang="en-US" sz="1500" dirty="0"/>
          </a:p>
        </p:txBody>
      </p:sp>
      <p:sp>
        <p:nvSpPr>
          <p:cNvPr id="22" name="Text 5"/>
          <p:cNvSpPr/>
          <p:nvPr/>
        </p:nvSpPr>
        <p:spPr>
          <a:xfrm>
            <a:off x="3313172" y="1825220"/>
            <a:ext cx="1407955" cy="4561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1050" b="1" kern="0" spc="10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중국어 (표준)</a:t>
            </a:r>
            <a:endParaRPr lang="en-US" sz="1050" dirty="0"/>
          </a:p>
        </p:txBody>
      </p:sp>
      <p:sp>
        <p:nvSpPr>
          <p:cNvPr id="23" name="Text 6"/>
          <p:cNvSpPr/>
          <p:nvPr/>
        </p:nvSpPr>
        <p:spPr>
          <a:xfrm>
            <a:off x="5330726" y="1825220"/>
            <a:ext cx="1396194" cy="4561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1050" b="1" kern="0" spc="10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상하이 방언</a:t>
            </a:r>
            <a:endParaRPr lang="en-US" sz="1050" dirty="0"/>
          </a:p>
        </p:txBody>
      </p:sp>
      <p:sp>
        <p:nvSpPr>
          <p:cNvPr id="24" name="Text 7"/>
          <p:cNvSpPr/>
          <p:nvPr/>
        </p:nvSpPr>
        <p:spPr>
          <a:xfrm>
            <a:off x="7336520" y="1825220"/>
            <a:ext cx="1703882" cy="4561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1050" b="1" kern="0" spc="10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</a:t>
            </a:r>
            <a:endParaRPr lang="en-US" sz="1050" dirty="0"/>
          </a:p>
        </p:txBody>
      </p:sp>
      <p:sp>
        <p:nvSpPr>
          <p:cNvPr id="25" name="Text 8"/>
          <p:cNvSpPr/>
          <p:nvPr/>
        </p:nvSpPr>
        <p:spPr>
          <a:xfrm>
            <a:off x="9650003" y="1825220"/>
            <a:ext cx="1567383" cy="45618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197"/>
              </a:lnSpc>
              <a:buNone/>
            </a:pPr>
            <a:r>
              <a:rPr lang="en-US" sz="1050" b="1" kern="0" spc="105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일본어 (음독)</a:t>
            </a:r>
            <a:endParaRPr lang="en-US" sz="1050" dirty="0"/>
          </a:p>
        </p:txBody>
      </p:sp>
      <p:sp>
        <p:nvSpPr>
          <p:cNvPr id="26" name="Text 9"/>
          <p:cNvSpPr/>
          <p:nvPr/>
        </p:nvSpPr>
        <p:spPr>
          <a:xfrm>
            <a:off x="851548" y="2281407"/>
            <a:ext cx="1852024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55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学生</a:t>
            </a:r>
            <a:endParaRPr lang="en-US" sz="2250" dirty="0"/>
          </a:p>
        </p:txBody>
      </p:sp>
      <p:sp>
        <p:nvSpPr>
          <p:cNvPr id="27" name="Text 10"/>
          <p:cNvSpPr/>
          <p:nvPr/>
        </p:nvSpPr>
        <p:spPr>
          <a:xfrm>
            <a:off x="3313172" y="2281407"/>
            <a:ext cx="1438948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Xué-shēng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5330726" y="2281407"/>
            <a:ext cx="1594779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Ya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-sang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7336520" y="2281407"/>
            <a:ext cx="1898309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-saeng</a:t>
            </a:r>
            <a:endParaRPr lang="en-US" sz="1500" dirty="0"/>
          </a:p>
        </p:txBody>
      </p:sp>
      <p:sp>
        <p:nvSpPr>
          <p:cNvPr id="30" name="Text 13"/>
          <p:cNvSpPr/>
          <p:nvPr/>
        </p:nvSpPr>
        <p:spPr>
          <a:xfrm>
            <a:off x="9650003" y="2281407"/>
            <a:ext cx="1567383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</a:t>
            </a:r>
            <a:r>
              <a:rPr lang="en-US" sz="135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-sei</a:t>
            </a:r>
            <a:endParaRPr lang="en-US" sz="1350" dirty="0"/>
          </a:p>
        </p:txBody>
      </p:sp>
      <p:sp>
        <p:nvSpPr>
          <p:cNvPr id="31" name="Text 14"/>
          <p:cNvSpPr/>
          <p:nvPr/>
        </p:nvSpPr>
        <p:spPr>
          <a:xfrm>
            <a:off x="851548" y="2944064"/>
            <a:ext cx="1852024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55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约束</a:t>
            </a:r>
            <a:endParaRPr lang="en-US" sz="2250" dirty="0"/>
          </a:p>
        </p:txBody>
      </p:sp>
      <p:sp>
        <p:nvSpPr>
          <p:cNvPr id="32" name="Text 15"/>
          <p:cNvSpPr/>
          <p:nvPr/>
        </p:nvSpPr>
        <p:spPr>
          <a:xfrm>
            <a:off x="3313172" y="2944064"/>
            <a:ext cx="1407955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Yuē-shū</a:t>
            </a:r>
            <a:endParaRPr lang="en-US" sz="1200" dirty="0"/>
          </a:p>
        </p:txBody>
      </p:sp>
      <p:sp>
        <p:nvSpPr>
          <p:cNvPr id="33" name="Text 16"/>
          <p:cNvSpPr/>
          <p:nvPr/>
        </p:nvSpPr>
        <p:spPr>
          <a:xfrm>
            <a:off x="5330726" y="2944064"/>
            <a:ext cx="1396194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Ya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k-sok</a:t>
            </a:r>
            <a:endParaRPr lang="en-US" sz="1500" dirty="0"/>
          </a:p>
        </p:txBody>
      </p:sp>
      <p:sp>
        <p:nvSpPr>
          <p:cNvPr id="34" name="Text 17"/>
          <p:cNvSpPr/>
          <p:nvPr/>
        </p:nvSpPr>
        <p:spPr>
          <a:xfrm>
            <a:off x="7336520" y="2944064"/>
            <a:ext cx="1703882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Ya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k-sok</a:t>
            </a:r>
            <a:endParaRPr lang="en-US" sz="1500" dirty="0"/>
          </a:p>
        </p:txBody>
      </p:sp>
      <p:sp>
        <p:nvSpPr>
          <p:cNvPr id="35" name="Text 18"/>
          <p:cNvSpPr/>
          <p:nvPr/>
        </p:nvSpPr>
        <p:spPr>
          <a:xfrm>
            <a:off x="9650003" y="2944064"/>
            <a:ext cx="1670150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Ya</a:t>
            </a:r>
            <a:r>
              <a:rPr lang="en-US" sz="135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ku-soku</a:t>
            </a:r>
            <a:endParaRPr lang="en-US" sz="1350" dirty="0"/>
          </a:p>
        </p:txBody>
      </p:sp>
      <p:sp>
        <p:nvSpPr>
          <p:cNvPr id="36" name="Text 19"/>
          <p:cNvSpPr/>
          <p:nvPr/>
        </p:nvSpPr>
        <p:spPr>
          <a:xfrm>
            <a:off x="851548" y="3606723"/>
            <a:ext cx="1852024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55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独立</a:t>
            </a:r>
            <a:endParaRPr lang="en-US" sz="2250" dirty="0"/>
          </a:p>
        </p:txBody>
      </p:sp>
      <p:sp>
        <p:nvSpPr>
          <p:cNvPr id="37" name="Text 20"/>
          <p:cNvSpPr/>
          <p:nvPr/>
        </p:nvSpPr>
        <p:spPr>
          <a:xfrm>
            <a:off x="3313172" y="3606723"/>
            <a:ext cx="1407955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Dú-lì</a:t>
            </a:r>
            <a:endParaRPr lang="en-US" sz="1200" dirty="0"/>
          </a:p>
        </p:txBody>
      </p:sp>
      <p:sp>
        <p:nvSpPr>
          <p:cNvPr id="38" name="Text 21"/>
          <p:cNvSpPr/>
          <p:nvPr/>
        </p:nvSpPr>
        <p:spPr>
          <a:xfrm>
            <a:off x="5330726" y="3606723"/>
            <a:ext cx="1396194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k-lip</a:t>
            </a:r>
            <a:endParaRPr lang="en-US" sz="1500" dirty="0"/>
          </a:p>
        </p:txBody>
      </p:sp>
      <p:sp>
        <p:nvSpPr>
          <p:cNvPr id="39" name="Text 22"/>
          <p:cNvSpPr/>
          <p:nvPr/>
        </p:nvSpPr>
        <p:spPr>
          <a:xfrm>
            <a:off x="7336520" y="3606723"/>
            <a:ext cx="1703882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k-rip</a:t>
            </a:r>
            <a:endParaRPr lang="en-US" sz="1500" dirty="0"/>
          </a:p>
        </p:txBody>
      </p:sp>
      <p:sp>
        <p:nvSpPr>
          <p:cNvPr id="40" name="Text 23"/>
          <p:cNvSpPr/>
          <p:nvPr/>
        </p:nvSpPr>
        <p:spPr>
          <a:xfrm>
            <a:off x="9650003" y="3606723"/>
            <a:ext cx="1855722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Do</a:t>
            </a:r>
            <a:r>
              <a:rPr lang="en-US" sz="135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ku-ritsu</a:t>
            </a:r>
            <a:endParaRPr lang="en-US" sz="1350" dirty="0"/>
          </a:p>
        </p:txBody>
      </p:sp>
      <p:sp>
        <p:nvSpPr>
          <p:cNvPr id="41" name="Text 24"/>
          <p:cNvSpPr/>
          <p:nvPr/>
        </p:nvSpPr>
        <p:spPr>
          <a:xfrm>
            <a:off x="851548" y="4269381"/>
            <a:ext cx="1852024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55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压力</a:t>
            </a:r>
            <a:endParaRPr lang="en-US" sz="2250" dirty="0"/>
          </a:p>
        </p:txBody>
      </p:sp>
      <p:sp>
        <p:nvSpPr>
          <p:cNvPr id="42" name="Text 25"/>
          <p:cNvSpPr/>
          <p:nvPr/>
        </p:nvSpPr>
        <p:spPr>
          <a:xfrm>
            <a:off x="3313172" y="4269381"/>
            <a:ext cx="1407955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Yā-lì</a:t>
            </a:r>
            <a:endParaRPr lang="en-US" sz="1200" dirty="0"/>
          </a:p>
        </p:txBody>
      </p:sp>
      <p:sp>
        <p:nvSpPr>
          <p:cNvPr id="43" name="Text 26"/>
          <p:cNvSpPr/>
          <p:nvPr/>
        </p:nvSpPr>
        <p:spPr>
          <a:xfrm>
            <a:off x="5330726" y="4269381"/>
            <a:ext cx="1396194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-li</a:t>
            </a:r>
            <a:endParaRPr lang="en-US" sz="1500" dirty="0"/>
          </a:p>
        </p:txBody>
      </p:sp>
      <p:sp>
        <p:nvSpPr>
          <p:cNvPr id="44" name="Text 27"/>
          <p:cNvSpPr/>
          <p:nvPr/>
        </p:nvSpPr>
        <p:spPr>
          <a:xfrm>
            <a:off x="7336520" y="4269381"/>
            <a:ext cx="1703882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</a:t>
            </a: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-ryeok</a:t>
            </a:r>
            <a:endParaRPr lang="en-US" sz="1500" dirty="0"/>
          </a:p>
        </p:txBody>
      </p:sp>
      <p:sp>
        <p:nvSpPr>
          <p:cNvPr id="45" name="Text 28"/>
          <p:cNvSpPr/>
          <p:nvPr/>
        </p:nvSpPr>
        <p:spPr>
          <a:xfrm>
            <a:off x="9650003" y="4269381"/>
            <a:ext cx="1855722" cy="66265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</a:t>
            </a:r>
            <a:r>
              <a:rPr lang="en-US" sz="135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tsu</a:t>
            </a: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-ryoku</a:t>
            </a:r>
            <a:endParaRPr lang="en-US" sz="1350" dirty="0"/>
          </a:p>
        </p:txBody>
      </p:sp>
      <p:sp>
        <p:nvSpPr>
          <p:cNvPr id="46" name="Text 29"/>
          <p:cNvSpPr/>
          <p:nvPr/>
        </p:nvSpPr>
        <p:spPr>
          <a:xfrm>
            <a:off x="851548" y="4932038"/>
            <a:ext cx="1852024" cy="662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2155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家族</a:t>
            </a:r>
            <a:endParaRPr lang="en-US" sz="2250" dirty="0"/>
          </a:p>
        </p:txBody>
      </p:sp>
      <p:sp>
        <p:nvSpPr>
          <p:cNvPr id="47" name="Text 30"/>
          <p:cNvSpPr/>
          <p:nvPr/>
        </p:nvSpPr>
        <p:spPr>
          <a:xfrm>
            <a:off x="3313172" y="4932038"/>
            <a:ext cx="1407955" cy="662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Jiā-zú</a:t>
            </a:r>
            <a:endParaRPr lang="en-US" sz="1200" dirty="0"/>
          </a:p>
        </p:txBody>
      </p:sp>
      <p:sp>
        <p:nvSpPr>
          <p:cNvPr id="48" name="Text 31"/>
          <p:cNvSpPr/>
          <p:nvPr/>
        </p:nvSpPr>
        <p:spPr>
          <a:xfrm>
            <a:off x="5330726" y="4932038"/>
            <a:ext cx="1396194" cy="662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Ka-tso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endParaRPr lang="en-US" sz="1500" dirty="0"/>
          </a:p>
        </p:txBody>
      </p:sp>
      <p:sp>
        <p:nvSpPr>
          <p:cNvPr id="49" name="Text 32"/>
          <p:cNvSpPr/>
          <p:nvPr/>
        </p:nvSpPr>
        <p:spPr>
          <a:xfrm>
            <a:off x="7336520" y="4932038"/>
            <a:ext cx="1703882" cy="662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Ga-jo</a:t>
            </a:r>
            <a:r>
              <a:rPr lang="en-US" sz="150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</a:t>
            </a:r>
            <a:endParaRPr lang="en-US" sz="1500" dirty="0"/>
          </a:p>
        </p:txBody>
      </p:sp>
      <p:sp>
        <p:nvSpPr>
          <p:cNvPr id="50" name="Text 33"/>
          <p:cNvSpPr/>
          <p:nvPr/>
        </p:nvSpPr>
        <p:spPr>
          <a:xfrm>
            <a:off x="9650003" y="4932038"/>
            <a:ext cx="1567383" cy="66289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l">
              <a:lnSpc>
                <a:spcPts val="1676"/>
              </a:lnSpc>
              <a:buNone/>
            </a:pPr>
            <a:r>
              <a:rPr lang="en-US" sz="13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Ka-zo</a:t>
            </a:r>
            <a:r>
              <a:rPr lang="en-US" sz="1350" b="1" dirty="0">
                <a:solidFill>
                  <a:srgbClr val="A52A2A"/>
                </a:solidFill>
                <a:highlight>
                  <a:srgbClr val="FFF2F2"/>
                </a:highlight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ku</a:t>
            </a:r>
            <a:endParaRPr lang="en-US" sz="1350" dirty="0"/>
          </a:p>
        </p:txBody>
      </p:sp>
      <p:sp>
        <p:nvSpPr>
          <p:cNvPr id="51" name="Text 34"/>
          <p:cNvSpPr/>
          <p:nvPr/>
        </p:nvSpPr>
        <p:spPr>
          <a:xfrm>
            <a:off x="729898" y="5777409"/>
            <a:ext cx="5061210" cy="70043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"특히 </a:t>
            </a:r>
            <a:r>
              <a:rPr lang="en-US" sz="1200" b="1" i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'약속(约束)'</a:t>
            </a:r>
            <a:r>
              <a:rPr lang="en-US" sz="12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경우, 상하이어와 한국어 발음이 </a:t>
            </a:r>
            <a:r>
              <a:rPr lang="en-US" sz="1200" b="1" i="1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완벽히 일치</a:t>
            </a:r>
            <a:r>
              <a:rPr lang="en-US" sz="1200" i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고대 한어의 원형을 생생하게 보여줍니다."</a:t>
            </a:r>
            <a:endParaRPr lang="en-US" sz="1200" dirty="0"/>
          </a:p>
        </p:txBody>
      </p:sp>
      <p:sp>
        <p:nvSpPr>
          <p:cNvPr id="52" name="Text 35"/>
          <p:cNvSpPr/>
          <p:nvPr/>
        </p:nvSpPr>
        <p:spPr>
          <a:xfrm>
            <a:off x="6688950" y="6051596"/>
            <a:ext cx="4816775" cy="15206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197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일본어는 입성 받침이 </a:t>
            </a:r>
            <a:r>
              <a:rPr lang="en-US" sz="1050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'-tsu(つ)'</a:t>
            </a: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 </a:t>
            </a:r>
            <a:r>
              <a:rPr lang="en-US" sz="1050" dirty="0">
                <a:solidFill>
                  <a:srgbClr val="FCD3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'-ku(く)'</a:t>
            </a:r>
            <a:r>
              <a:rPr lang="en-US" sz="105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음절화되어 보존되었습니다.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06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3669" y="636870"/>
            <a:ext cx="3852285" cy="310668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3669" y="1196072"/>
            <a:ext cx="3535792" cy="1988276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3669" y="3370750"/>
            <a:ext cx="3535792" cy="2570779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0070" y="3570621"/>
            <a:ext cx="139801" cy="190406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0070" y="4719608"/>
            <a:ext cx="62134" cy="62134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0070" y="4968142"/>
            <a:ext cx="62134" cy="62134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27996" y="1196072"/>
            <a:ext cx="7320240" cy="4745456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27996" y="1196072"/>
            <a:ext cx="7320240" cy="539301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327996" y="2055264"/>
            <a:ext cx="7320240" cy="497069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405078" y="2210598"/>
            <a:ext cx="823271" cy="186401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327996" y="2943702"/>
            <a:ext cx="7320240" cy="497069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401194" y="3099036"/>
            <a:ext cx="831038" cy="186401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27996" y="3832141"/>
            <a:ext cx="7320240" cy="497069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12845" y="3987475"/>
            <a:ext cx="807738" cy="186401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463329" y="4875913"/>
            <a:ext cx="706770" cy="186401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327996" y="5537660"/>
            <a:ext cx="7320240" cy="403868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543669" y="6190063"/>
            <a:ext cx="11104568" cy="279602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1174467" y="6315787"/>
            <a:ext cx="155335" cy="152422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1454068" y="6315787"/>
            <a:ext cx="194168" cy="152422"/>
          </a:xfrm>
          <a:prstGeom prst="rect">
            <a:avLst/>
          </a:prstGeom>
        </p:spPr>
      </p:pic>
      <p:sp>
        <p:nvSpPr>
          <p:cNvPr id="22" name="Text 0"/>
          <p:cNvSpPr/>
          <p:nvPr/>
        </p:nvSpPr>
        <p:spPr>
          <a:xfrm>
            <a:off x="543669" y="388335"/>
            <a:ext cx="6307931" cy="2174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2"/>
              </a:lnSpc>
              <a:buNone/>
            </a:pPr>
            <a:r>
              <a:rPr lang="en-US" sz="1350" b="1" kern="0" spc="132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PRONUNCIATION ANALYSIS II</a:t>
            </a:r>
            <a:endParaRPr lang="en-US" sz="1350" dirty="0"/>
          </a:p>
        </p:txBody>
      </p:sp>
      <p:sp>
        <p:nvSpPr>
          <p:cNvPr id="23" name="Text 1"/>
          <p:cNvSpPr/>
          <p:nvPr/>
        </p:nvSpPr>
        <p:spPr>
          <a:xfrm>
            <a:off x="730070" y="636870"/>
            <a:ext cx="6170954" cy="3106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46"/>
              </a:lnSpc>
              <a:buNone/>
            </a:pPr>
            <a:r>
              <a:rPr lang="en-US" sz="27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지명과 일상 어휘의 흔적</a:t>
            </a:r>
            <a:endParaRPr lang="en-US" sz="2700" dirty="0"/>
          </a:p>
        </p:txBody>
      </p:sp>
      <p:sp>
        <p:nvSpPr>
          <p:cNvPr id="24" name="Text 2"/>
          <p:cNvSpPr/>
          <p:nvPr/>
        </p:nvSpPr>
        <p:spPr>
          <a:xfrm>
            <a:off x="9097034" y="742206"/>
            <a:ext cx="2551201" cy="1941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223"/>
              </a:lnSpc>
              <a:buNone/>
            </a:pPr>
            <a:r>
              <a:rPr lang="en-US" sz="105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ANALYSIS</a:t>
            </a:r>
            <a:endParaRPr lang="en-US" sz="1050" dirty="0"/>
          </a:p>
        </p:txBody>
      </p:sp>
      <p:sp>
        <p:nvSpPr>
          <p:cNvPr id="25" name="Text 3"/>
          <p:cNvSpPr/>
          <p:nvPr/>
        </p:nvSpPr>
        <p:spPr>
          <a:xfrm>
            <a:off x="963071" y="3557151"/>
            <a:ext cx="3162990" cy="2174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12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지명과 일상의 연결</a:t>
            </a:r>
            <a:endParaRPr lang="en-US" sz="1500" dirty="0"/>
          </a:p>
        </p:txBody>
      </p:sp>
      <p:sp>
        <p:nvSpPr>
          <p:cNvPr id="26" name="Text 4"/>
          <p:cNvSpPr/>
          <p:nvPr/>
        </p:nvSpPr>
        <p:spPr>
          <a:xfrm>
            <a:off x="730070" y="3898886"/>
            <a:ext cx="3162990" cy="64985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706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상하이의 상징적인 지명과 우리가 매일 사용하는 일상 어휘 속에서도 고대 한어의 소리는 고스란히 남아 있습니다.</a:t>
            </a:r>
            <a:endParaRPr lang="en-US" sz="1050" dirty="0"/>
          </a:p>
        </p:txBody>
      </p:sp>
      <p:sp>
        <p:nvSpPr>
          <p:cNvPr id="27" name="Text 5"/>
          <p:cNvSpPr/>
          <p:nvPr/>
        </p:nvSpPr>
        <p:spPr>
          <a:xfrm>
            <a:off x="885404" y="4673007"/>
            <a:ext cx="4317417" cy="1553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2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비음 받침(-ng, -n)의 높은 일치도</a:t>
            </a:r>
            <a:endParaRPr lang="en-US" sz="1050" dirty="0"/>
          </a:p>
        </p:txBody>
      </p:sp>
      <p:sp>
        <p:nvSpPr>
          <p:cNvPr id="28" name="Text 6"/>
          <p:cNvSpPr/>
          <p:nvPr/>
        </p:nvSpPr>
        <p:spPr>
          <a:xfrm>
            <a:off x="885404" y="4921542"/>
            <a:ext cx="3924925" cy="1553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23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상하이 방언과 한국어 한자음의 유사성</a:t>
            </a:r>
            <a:endParaRPr lang="en-US" sz="1050" dirty="0"/>
          </a:p>
        </p:txBody>
      </p:sp>
      <p:sp>
        <p:nvSpPr>
          <p:cNvPr id="29" name="Text 7"/>
          <p:cNvSpPr/>
          <p:nvPr/>
        </p:nvSpPr>
        <p:spPr>
          <a:xfrm>
            <a:off x="4483330" y="1351407"/>
            <a:ext cx="1401890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한자</a:t>
            </a:r>
            <a:endParaRPr lang="en-US" sz="1200" dirty="0"/>
          </a:p>
        </p:txBody>
      </p:sp>
      <p:sp>
        <p:nvSpPr>
          <p:cNvPr id="30" name="Text 8"/>
          <p:cNvSpPr/>
          <p:nvPr/>
        </p:nvSpPr>
        <p:spPr>
          <a:xfrm>
            <a:off x="5885220" y="1351407"/>
            <a:ext cx="1401890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상하이 방언</a:t>
            </a:r>
            <a:endParaRPr lang="en-US" sz="1200" dirty="0"/>
          </a:p>
        </p:txBody>
      </p:sp>
      <p:sp>
        <p:nvSpPr>
          <p:cNvPr id="31" name="Text 9"/>
          <p:cNvSpPr/>
          <p:nvPr/>
        </p:nvSpPr>
        <p:spPr>
          <a:xfrm>
            <a:off x="7287110" y="1351407"/>
            <a:ext cx="1401890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한국어</a:t>
            </a:r>
            <a:endParaRPr lang="en-US" sz="1200" dirty="0"/>
          </a:p>
        </p:txBody>
      </p:sp>
      <p:sp>
        <p:nvSpPr>
          <p:cNvPr id="32" name="Text 10"/>
          <p:cNvSpPr/>
          <p:nvPr/>
        </p:nvSpPr>
        <p:spPr>
          <a:xfrm>
            <a:off x="8689000" y="1351407"/>
            <a:ext cx="1401891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일본어</a:t>
            </a:r>
            <a:endParaRPr lang="en-US" sz="1200" dirty="0"/>
          </a:p>
        </p:txBody>
      </p:sp>
      <p:sp>
        <p:nvSpPr>
          <p:cNvPr id="33" name="Text 11"/>
          <p:cNvSpPr/>
          <p:nvPr/>
        </p:nvSpPr>
        <p:spPr>
          <a:xfrm>
            <a:off x="10090891" y="1351407"/>
            <a:ext cx="1402011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특징</a:t>
            </a:r>
            <a:endParaRPr lang="en-US" sz="1200" dirty="0"/>
          </a:p>
        </p:txBody>
      </p:sp>
      <p:sp>
        <p:nvSpPr>
          <p:cNvPr id="34" name="Text 12"/>
          <p:cNvSpPr/>
          <p:nvPr/>
        </p:nvSpPr>
        <p:spPr>
          <a:xfrm>
            <a:off x="4452263" y="2179531"/>
            <a:ext cx="1414268" cy="2485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7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上海</a:t>
            </a:r>
            <a:endParaRPr lang="en-US" sz="1800" dirty="0"/>
          </a:p>
        </p:txBody>
      </p:sp>
      <p:sp>
        <p:nvSpPr>
          <p:cNvPr id="35" name="Text 13"/>
          <p:cNvSpPr/>
          <p:nvPr/>
        </p:nvSpPr>
        <p:spPr>
          <a:xfrm>
            <a:off x="5788740" y="2189482"/>
            <a:ext cx="1569972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Zang-he</a:t>
            </a:r>
            <a:endParaRPr lang="en-US" sz="1200" dirty="0"/>
          </a:p>
        </p:txBody>
      </p:sp>
      <p:sp>
        <p:nvSpPr>
          <p:cNvPr id="36" name="Text 14"/>
          <p:cNvSpPr/>
          <p:nvPr/>
        </p:nvSpPr>
        <p:spPr>
          <a:xfrm>
            <a:off x="7090928" y="2189482"/>
            <a:ext cx="1794254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Sang-hae</a:t>
            </a:r>
            <a:endParaRPr lang="en-US" sz="1200" dirty="0"/>
          </a:p>
        </p:txBody>
      </p:sp>
      <p:sp>
        <p:nvSpPr>
          <p:cNvPr id="37" name="Text 15"/>
          <p:cNvSpPr/>
          <p:nvPr/>
        </p:nvSpPr>
        <p:spPr>
          <a:xfrm>
            <a:off x="8505258" y="2189482"/>
            <a:ext cx="1794254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Shan-hai</a:t>
            </a:r>
            <a:endParaRPr lang="en-US" sz="1200" dirty="0"/>
          </a:p>
        </p:txBody>
      </p:sp>
      <p:sp>
        <p:nvSpPr>
          <p:cNvPr id="38" name="Text 16"/>
          <p:cNvSpPr/>
          <p:nvPr/>
        </p:nvSpPr>
        <p:spPr>
          <a:xfrm>
            <a:off x="9918073" y="2210598"/>
            <a:ext cx="1644879" cy="1864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78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-ng (상/Sang)</a:t>
            </a:r>
            <a:endParaRPr lang="en-US" sz="900" dirty="0"/>
          </a:p>
        </p:txBody>
      </p:sp>
      <p:sp>
        <p:nvSpPr>
          <p:cNvPr id="39" name="Text 17"/>
          <p:cNvSpPr/>
          <p:nvPr/>
        </p:nvSpPr>
        <p:spPr>
          <a:xfrm>
            <a:off x="4318341" y="3067970"/>
            <a:ext cx="1682113" cy="2485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7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黄浦江</a:t>
            </a:r>
            <a:endParaRPr lang="en-US" sz="1800" dirty="0"/>
          </a:p>
        </p:txBody>
      </p:sp>
      <p:sp>
        <p:nvSpPr>
          <p:cNvPr id="40" name="Text 18"/>
          <p:cNvSpPr/>
          <p:nvPr/>
        </p:nvSpPr>
        <p:spPr>
          <a:xfrm>
            <a:off x="5200003" y="3114570"/>
            <a:ext cx="2747447" cy="1553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23"/>
              </a:lnSpc>
              <a:buNone/>
            </a:pPr>
            <a:r>
              <a:rPr lang="en-US" sz="105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Wong-phu-kaong</a:t>
            </a:r>
            <a:endParaRPr lang="en-US" sz="1050" dirty="0"/>
          </a:p>
        </p:txBody>
      </p:sp>
      <p:sp>
        <p:nvSpPr>
          <p:cNvPr id="41" name="Text 19"/>
          <p:cNvSpPr/>
          <p:nvPr/>
        </p:nvSpPr>
        <p:spPr>
          <a:xfrm>
            <a:off x="6712455" y="3114570"/>
            <a:ext cx="2551201" cy="1553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23"/>
              </a:lnSpc>
              <a:buNone/>
            </a:pPr>
            <a:r>
              <a:rPr lang="en-US" sz="105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Hwang-po-gang</a:t>
            </a:r>
            <a:endParaRPr lang="en-US" sz="1050" dirty="0"/>
          </a:p>
        </p:txBody>
      </p:sp>
      <p:sp>
        <p:nvSpPr>
          <p:cNvPr id="42" name="Text 20"/>
          <p:cNvSpPr/>
          <p:nvPr/>
        </p:nvSpPr>
        <p:spPr>
          <a:xfrm>
            <a:off x="8561325" y="3130103"/>
            <a:ext cx="1682119" cy="12426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78"/>
              </a:lnSpc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Kou-ho-kou</a:t>
            </a:r>
            <a:endParaRPr lang="en-US" sz="900" dirty="0"/>
          </a:p>
        </p:txBody>
      </p:sp>
      <p:sp>
        <p:nvSpPr>
          <p:cNvPr id="43" name="Text 21"/>
          <p:cNvSpPr/>
          <p:nvPr/>
        </p:nvSpPr>
        <p:spPr>
          <a:xfrm>
            <a:off x="9916327" y="3099036"/>
            <a:ext cx="1648372" cy="1864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78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-ng (강/Gang)</a:t>
            </a:r>
            <a:endParaRPr lang="en-US" sz="900" dirty="0"/>
          </a:p>
        </p:txBody>
      </p:sp>
      <p:sp>
        <p:nvSpPr>
          <p:cNvPr id="44" name="Text 22"/>
          <p:cNvSpPr/>
          <p:nvPr/>
        </p:nvSpPr>
        <p:spPr>
          <a:xfrm>
            <a:off x="4452263" y="3956408"/>
            <a:ext cx="1414268" cy="2485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7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准备</a:t>
            </a:r>
            <a:endParaRPr lang="en-US" sz="1800" dirty="0"/>
          </a:p>
        </p:txBody>
      </p:sp>
      <p:sp>
        <p:nvSpPr>
          <p:cNvPr id="45" name="Text 23"/>
          <p:cNvSpPr/>
          <p:nvPr/>
        </p:nvSpPr>
        <p:spPr>
          <a:xfrm>
            <a:off x="5788740" y="3966359"/>
            <a:ext cx="1569972" cy="2286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Tsen-be</a:t>
            </a:r>
            <a:endParaRPr lang="en-US" sz="1200" dirty="0"/>
          </a:p>
        </p:txBody>
      </p:sp>
      <p:sp>
        <p:nvSpPr>
          <p:cNvPr id="46" name="Text 24"/>
          <p:cNvSpPr/>
          <p:nvPr/>
        </p:nvSpPr>
        <p:spPr>
          <a:xfrm>
            <a:off x="7280921" y="3966359"/>
            <a:ext cx="1414268" cy="2286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Jun-bi</a:t>
            </a:r>
            <a:endParaRPr lang="en-US" sz="1200" dirty="0"/>
          </a:p>
        </p:txBody>
      </p:sp>
      <p:sp>
        <p:nvSpPr>
          <p:cNvPr id="47" name="Text 25"/>
          <p:cNvSpPr/>
          <p:nvPr/>
        </p:nvSpPr>
        <p:spPr>
          <a:xfrm>
            <a:off x="8695190" y="3966359"/>
            <a:ext cx="1414390" cy="22863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Jun-bi</a:t>
            </a:r>
            <a:endParaRPr lang="en-US" sz="1200" dirty="0"/>
          </a:p>
        </p:txBody>
      </p:sp>
      <p:sp>
        <p:nvSpPr>
          <p:cNvPr id="48" name="Text 26"/>
          <p:cNvSpPr/>
          <p:nvPr/>
        </p:nvSpPr>
        <p:spPr>
          <a:xfrm>
            <a:off x="10058141" y="3987475"/>
            <a:ext cx="1364745" cy="1864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78"/>
              </a:lnSpc>
              <a:buNone/>
            </a:pPr>
            <a:r>
              <a:rPr lang="en-US" sz="900" dirty="0">
                <a:solidFill>
                  <a:srgbClr val="16653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완벽 일치 (-n)</a:t>
            </a:r>
            <a:endParaRPr lang="en-US" sz="900" dirty="0"/>
          </a:p>
        </p:txBody>
      </p:sp>
      <p:sp>
        <p:nvSpPr>
          <p:cNvPr id="49" name="Text 27"/>
          <p:cNvSpPr/>
          <p:nvPr/>
        </p:nvSpPr>
        <p:spPr>
          <a:xfrm>
            <a:off x="4452263" y="4844846"/>
            <a:ext cx="1414268" cy="2485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7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时间</a:t>
            </a:r>
            <a:endParaRPr lang="en-US" sz="1800" dirty="0"/>
          </a:p>
        </p:txBody>
      </p:sp>
      <p:sp>
        <p:nvSpPr>
          <p:cNvPr id="50" name="Text 28"/>
          <p:cNvSpPr/>
          <p:nvPr/>
        </p:nvSpPr>
        <p:spPr>
          <a:xfrm>
            <a:off x="5866531" y="4854797"/>
            <a:ext cx="1414390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Zy-kae</a:t>
            </a:r>
            <a:endParaRPr lang="en-US" sz="1200" dirty="0"/>
          </a:p>
        </p:txBody>
      </p:sp>
      <p:sp>
        <p:nvSpPr>
          <p:cNvPr id="51" name="Text 29"/>
          <p:cNvSpPr/>
          <p:nvPr/>
        </p:nvSpPr>
        <p:spPr>
          <a:xfrm>
            <a:off x="7280921" y="4854797"/>
            <a:ext cx="1414268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Si-gan</a:t>
            </a:r>
            <a:endParaRPr lang="en-US" sz="1200" dirty="0"/>
          </a:p>
        </p:txBody>
      </p:sp>
      <p:sp>
        <p:nvSpPr>
          <p:cNvPr id="52" name="Text 30"/>
          <p:cNvSpPr/>
          <p:nvPr/>
        </p:nvSpPr>
        <p:spPr>
          <a:xfrm>
            <a:off x="8695190" y="4854797"/>
            <a:ext cx="1414390" cy="22863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Ji-kan</a:t>
            </a:r>
            <a:endParaRPr lang="en-US" sz="1200" dirty="0"/>
          </a:p>
        </p:txBody>
      </p:sp>
      <p:sp>
        <p:nvSpPr>
          <p:cNvPr id="53" name="Text 31"/>
          <p:cNvSpPr/>
          <p:nvPr/>
        </p:nvSpPr>
        <p:spPr>
          <a:xfrm>
            <a:off x="10080811" y="4875913"/>
            <a:ext cx="1319405" cy="1864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978"/>
              </a:lnSpc>
              <a:buNone/>
            </a:pPr>
            <a:r>
              <a:rPr lang="en-US" sz="900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-n (간/Kan)</a:t>
            </a:r>
            <a:endParaRPr lang="en-US" sz="900" dirty="0"/>
          </a:p>
        </p:txBody>
      </p:sp>
      <p:sp>
        <p:nvSpPr>
          <p:cNvPr id="54" name="Text 32"/>
          <p:cNvSpPr/>
          <p:nvPr/>
        </p:nvSpPr>
        <p:spPr>
          <a:xfrm>
            <a:off x="3165188" y="5537660"/>
            <a:ext cx="9341056" cy="4038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23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상하이 방언과 한국어는 특히 '비음(Nasal)' 받침에서 놀라운 유사성을 보입니다.</a:t>
            </a:r>
            <a:endParaRPr lang="en-US" sz="1050" dirty="0"/>
          </a:p>
        </p:txBody>
      </p:sp>
      <p:sp>
        <p:nvSpPr>
          <p:cNvPr id="55" name="Text 33"/>
          <p:cNvSpPr/>
          <p:nvPr/>
        </p:nvSpPr>
        <p:spPr>
          <a:xfrm>
            <a:off x="543669" y="6314331"/>
            <a:ext cx="4709910" cy="1553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223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한자의 이해 : 동아시아 언어의 시공간 여행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87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006" y="735607"/>
            <a:ext cx="10965976" cy="45724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2682" y="2065505"/>
            <a:ext cx="3378352" cy="3354124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9835" y="1832911"/>
            <a:ext cx="229877" cy="22844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79835" y="3056527"/>
            <a:ext cx="5299027" cy="2219511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29675" y="4043682"/>
            <a:ext cx="199227" cy="245202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9835" y="5674492"/>
            <a:ext cx="145589" cy="214552"/>
          </a:xfrm>
          <a:prstGeom prst="rect">
            <a:avLst/>
          </a:prstGeom>
        </p:spPr>
      </p:pic>
      <p:sp>
        <p:nvSpPr>
          <p:cNvPr id="10" name="Text 0"/>
          <p:cNvSpPr/>
          <p:nvPr/>
        </p:nvSpPr>
        <p:spPr>
          <a:xfrm>
            <a:off x="613006" y="459754"/>
            <a:ext cx="10965976" cy="21455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9"/>
              </a:lnSpc>
              <a:buNone/>
            </a:pPr>
            <a:r>
              <a:rPr lang="en-US" sz="1350" b="1" kern="0" spc="134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04. WIT &amp; PHILOSOPHY</a:t>
            </a:r>
            <a:endParaRPr lang="en-US" sz="1350" dirty="0"/>
          </a:p>
        </p:txBody>
      </p:sp>
      <p:sp>
        <p:nvSpPr>
          <p:cNvPr id="11" name="Text 1"/>
          <p:cNvSpPr/>
          <p:nvPr/>
        </p:nvSpPr>
        <p:spPr>
          <a:xfrm>
            <a:off x="796907" y="735607"/>
            <a:ext cx="11352148" cy="45724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형태의 재치: 문자에 담긴 철학</a:t>
            </a:r>
            <a:endParaRPr lang="en-US" sz="3600" dirty="0"/>
          </a:p>
        </p:txBody>
      </p:sp>
      <p:sp>
        <p:nvSpPr>
          <p:cNvPr id="12" name="Text 2"/>
          <p:cNvSpPr/>
          <p:nvPr/>
        </p:nvSpPr>
        <p:spPr>
          <a:xfrm>
            <a:off x="2047582" y="5581584"/>
            <a:ext cx="5607476" cy="22856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>
              <a:lnSpc>
                <a:spcPts val="1800"/>
              </a:lnSpc>
            </a:pPr>
            <a:r>
              <a:rPr lang="en-US" sz="1200" kern="0" spc="-3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일본 상점의 </a:t>
            </a:r>
            <a:r>
              <a:rPr lang="en-US" sz="1200" b="1" kern="0" spc="-30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‘</a:t>
            </a:r>
            <a:r>
              <a:rPr lang="en-US" sz="1200" b="1" kern="0" spc="-30" dirty="0" err="1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춘하동중</a:t>
            </a:r>
            <a:r>
              <a:rPr lang="en-US" sz="1200" b="1" kern="0" spc="-30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(</a:t>
            </a:r>
            <a:r>
              <a:rPr lang="en-US" altLang="zh-CN" sz="1200" b="1" dirty="0" err="1">
                <a:latin typeface="Noto Sans KR" pitchFamily="34" charset="0"/>
                <a:ea typeface="Noto Sans KR" pitchFamily="34" charset="-122"/>
              </a:rPr>
              <a:t>春夏冬中</a:t>
            </a:r>
            <a:r>
              <a:rPr lang="en-US" sz="1200" b="1" kern="0" spc="-30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)’</a:t>
            </a:r>
            <a:r>
              <a:rPr lang="en-US" sz="1200" kern="0" spc="-3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간판</a:t>
            </a:r>
            <a:endParaRPr lang="en-US" sz="1200" dirty="0"/>
          </a:p>
        </p:txBody>
      </p:sp>
      <p:sp>
        <p:nvSpPr>
          <p:cNvPr id="13" name="Text 3"/>
          <p:cNvSpPr/>
          <p:nvPr/>
        </p:nvSpPr>
        <p:spPr>
          <a:xfrm>
            <a:off x="6601663" y="1824530"/>
            <a:ext cx="5299027" cy="2452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31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사라진 계절을 찾아서</a:t>
            </a:r>
            <a:endParaRPr lang="en-US" sz="1800" dirty="0"/>
          </a:p>
        </p:txBody>
      </p:sp>
      <p:sp>
        <p:nvSpPr>
          <p:cNvPr id="14" name="Text 4"/>
          <p:cNvSpPr/>
          <p:nvPr/>
        </p:nvSpPr>
        <p:spPr>
          <a:xfrm>
            <a:off x="6279835" y="2192333"/>
            <a:ext cx="5299027" cy="61899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2437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봄(春), 여름(夏), 겨울(冬)은 있는데
</a:t>
            </a:r>
            <a:r>
              <a:rPr lang="en-US" sz="1500" b="1" u="sng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가을(秋)</a:t>
            </a:r>
            <a:r>
              <a:rPr lang="en-US" sz="15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빠져 있습니다. 단순한 실수일까요?</a:t>
            </a:r>
            <a:endParaRPr lang="en-US" sz="1500" dirty="0"/>
          </a:p>
        </p:txBody>
      </p:sp>
      <p:sp>
        <p:nvSpPr>
          <p:cNvPr id="15" name="Text 5"/>
          <p:cNvSpPr/>
          <p:nvPr/>
        </p:nvSpPr>
        <p:spPr>
          <a:xfrm>
            <a:off x="6525038" y="3320886"/>
            <a:ext cx="1561967" cy="153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뜻</a:t>
            </a:r>
            <a:endParaRPr lang="en-US" sz="1050" dirty="0"/>
          </a:p>
        </p:txBody>
      </p:sp>
      <p:sp>
        <p:nvSpPr>
          <p:cNvPr id="16" name="Text 6"/>
          <p:cNvSpPr/>
          <p:nvPr/>
        </p:nvSpPr>
        <p:spPr>
          <a:xfrm>
            <a:off x="6283037" y="3458812"/>
            <a:ext cx="2045968" cy="337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31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가을이 없다</a:t>
            </a:r>
            <a:endParaRPr lang="en-US" sz="1800" dirty="0"/>
          </a:p>
        </p:txBody>
      </p:sp>
      <p:sp>
        <p:nvSpPr>
          <p:cNvPr id="17" name="Text 7"/>
          <p:cNvSpPr/>
          <p:nvPr/>
        </p:nvSpPr>
        <p:spPr>
          <a:xfrm>
            <a:off x="8087005" y="3427444"/>
            <a:ext cx="340995" cy="2452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31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800" dirty="0"/>
          </a:p>
        </p:txBody>
      </p:sp>
      <p:sp>
        <p:nvSpPr>
          <p:cNvPr id="18" name="Text 8"/>
          <p:cNvSpPr/>
          <p:nvPr/>
        </p:nvSpPr>
        <p:spPr>
          <a:xfrm>
            <a:off x="8148305" y="3301730"/>
            <a:ext cx="1561967" cy="153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발음</a:t>
            </a:r>
            <a:endParaRPr lang="en-US" sz="1050" dirty="0"/>
          </a:p>
        </p:txBody>
      </p:sp>
      <p:sp>
        <p:nvSpPr>
          <p:cNvPr id="19" name="Text 9"/>
          <p:cNvSpPr/>
          <p:nvPr/>
        </p:nvSpPr>
        <p:spPr>
          <a:xfrm>
            <a:off x="7650556" y="3416668"/>
            <a:ext cx="2557465" cy="413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72"/>
              </a:lnSpc>
              <a:buNone/>
            </a:pPr>
            <a:r>
              <a:rPr lang="en-US" sz="2250" b="1" dirty="0">
                <a:solidFill>
                  <a:srgbClr val="A52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Akinai</a:t>
            </a:r>
            <a:endParaRPr lang="en-US" sz="2250" dirty="0"/>
          </a:p>
        </p:txBody>
      </p:sp>
      <p:sp>
        <p:nvSpPr>
          <p:cNvPr id="20" name="Text 10"/>
          <p:cNvSpPr/>
          <p:nvPr/>
        </p:nvSpPr>
        <p:spPr>
          <a:xfrm>
            <a:off x="9710272" y="3427444"/>
            <a:ext cx="340995" cy="2452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31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800" dirty="0"/>
          </a:p>
        </p:txBody>
      </p:sp>
      <p:sp>
        <p:nvSpPr>
          <p:cNvPr id="21" name="Text 11"/>
          <p:cNvSpPr/>
          <p:nvPr/>
        </p:nvSpPr>
        <p:spPr>
          <a:xfrm>
            <a:off x="9771572" y="3320886"/>
            <a:ext cx="1561967" cy="153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한자</a:t>
            </a:r>
            <a:endParaRPr lang="en-US" sz="1050" dirty="0"/>
          </a:p>
        </p:txBody>
      </p:sp>
      <p:sp>
        <p:nvSpPr>
          <p:cNvPr id="22" name="Text 12"/>
          <p:cNvSpPr/>
          <p:nvPr/>
        </p:nvSpPr>
        <p:spPr>
          <a:xfrm>
            <a:off x="9927399" y="3458812"/>
            <a:ext cx="1250314" cy="337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31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秋ない</a:t>
            </a:r>
            <a:endParaRPr lang="en-US" sz="1800" dirty="0"/>
          </a:p>
        </p:txBody>
      </p:sp>
      <p:sp>
        <p:nvSpPr>
          <p:cNvPr id="23" name="Text 13"/>
          <p:cNvSpPr/>
          <p:nvPr/>
        </p:nvSpPr>
        <p:spPr>
          <a:xfrm>
            <a:off x="6525038" y="4553243"/>
            <a:ext cx="1561967" cy="153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뜻</a:t>
            </a:r>
            <a:endParaRPr lang="en-US" sz="1050" dirty="0"/>
          </a:p>
        </p:txBody>
      </p:sp>
      <p:sp>
        <p:nvSpPr>
          <p:cNvPr id="24" name="Text 14"/>
          <p:cNvSpPr/>
          <p:nvPr/>
        </p:nvSpPr>
        <p:spPr>
          <a:xfrm>
            <a:off x="6112540" y="4691169"/>
            <a:ext cx="2386962" cy="337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31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장사 / 영업</a:t>
            </a:r>
            <a:endParaRPr lang="en-US" sz="1800" dirty="0"/>
          </a:p>
        </p:txBody>
      </p:sp>
      <p:sp>
        <p:nvSpPr>
          <p:cNvPr id="25" name="Text 15"/>
          <p:cNvSpPr/>
          <p:nvPr/>
        </p:nvSpPr>
        <p:spPr>
          <a:xfrm>
            <a:off x="8087005" y="4659800"/>
            <a:ext cx="340995" cy="2452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31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800" dirty="0"/>
          </a:p>
        </p:txBody>
      </p:sp>
      <p:sp>
        <p:nvSpPr>
          <p:cNvPr id="26" name="Text 16"/>
          <p:cNvSpPr/>
          <p:nvPr/>
        </p:nvSpPr>
        <p:spPr>
          <a:xfrm>
            <a:off x="8148305" y="4534086"/>
            <a:ext cx="1561967" cy="153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발음</a:t>
            </a:r>
            <a:endParaRPr lang="en-US" sz="1050" dirty="0"/>
          </a:p>
        </p:txBody>
      </p:sp>
      <p:sp>
        <p:nvSpPr>
          <p:cNvPr id="27" name="Text 17"/>
          <p:cNvSpPr/>
          <p:nvPr/>
        </p:nvSpPr>
        <p:spPr>
          <a:xfrm>
            <a:off x="7650556" y="4649025"/>
            <a:ext cx="2557465" cy="41377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2172"/>
              </a:lnSpc>
              <a:buNone/>
            </a:pPr>
            <a:r>
              <a:rPr lang="en-US" sz="2250" b="1" dirty="0">
                <a:solidFill>
                  <a:srgbClr val="A52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Akinai</a:t>
            </a:r>
            <a:endParaRPr lang="en-US" sz="2250" dirty="0"/>
          </a:p>
        </p:txBody>
      </p:sp>
      <p:sp>
        <p:nvSpPr>
          <p:cNvPr id="28" name="Text 18"/>
          <p:cNvSpPr/>
          <p:nvPr/>
        </p:nvSpPr>
        <p:spPr>
          <a:xfrm>
            <a:off x="9710272" y="4659800"/>
            <a:ext cx="340995" cy="2452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931"/>
              </a:lnSpc>
              <a:buNone/>
            </a:pPr>
            <a:r>
              <a:rPr lang="en-US" sz="18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|</a:t>
            </a:r>
            <a:endParaRPr lang="en-US" sz="1800" dirty="0"/>
          </a:p>
        </p:txBody>
      </p:sp>
      <p:sp>
        <p:nvSpPr>
          <p:cNvPr id="29" name="Text 19"/>
          <p:cNvSpPr/>
          <p:nvPr/>
        </p:nvSpPr>
        <p:spPr>
          <a:xfrm>
            <a:off x="9771572" y="4553243"/>
            <a:ext cx="1561967" cy="1532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207"/>
              </a:lnSpc>
              <a:buNone/>
            </a:pPr>
            <a:r>
              <a:rPr lang="en-US" sz="105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한자</a:t>
            </a:r>
            <a:endParaRPr lang="en-US" sz="1050" dirty="0"/>
          </a:p>
        </p:txBody>
      </p:sp>
      <p:sp>
        <p:nvSpPr>
          <p:cNvPr id="30" name="Text 20"/>
          <p:cNvSpPr/>
          <p:nvPr/>
        </p:nvSpPr>
        <p:spPr>
          <a:xfrm>
            <a:off x="10097896" y="4691169"/>
            <a:ext cx="909319" cy="33715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31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商い</a:t>
            </a:r>
            <a:endParaRPr lang="en-US" sz="1800" dirty="0"/>
          </a:p>
        </p:txBody>
      </p:sp>
      <p:sp>
        <p:nvSpPr>
          <p:cNvPr id="31" name="Text 21"/>
          <p:cNvSpPr/>
          <p:nvPr/>
        </p:nvSpPr>
        <p:spPr>
          <a:xfrm>
            <a:off x="6548025" y="5643842"/>
            <a:ext cx="4061162" cy="42910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689"/>
              </a:lnSpc>
              <a:buNone/>
            </a:pPr>
            <a:r>
              <a:rPr lang="en-US" sz="135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판지모노(判じ物):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글자의 소리와 형태를 이용한
재치 있는 언어유희로 </a:t>
            </a:r>
            <a:r>
              <a:rPr lang="en-US" sz="1350" b="1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"영업 중"</a:t>
            </a:r>
            <a:r>
              <a:rPr lang="en-US" sz="135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임을 암호처럼 알립니다.</a:t>
            </a:r>
            <a:endParaRPr lang="en-US" sz="1350" dirty="0"/>
          </a:p>
        </p:txBody>
      </p:sp>
      <p:pic>
        <p:nvPicPr>
          <p:cNvPr id="1026" name="Picture 2" descr="在日本街頭看到的東西到底是什麽意思？">
            <a:extLst>
              <a:ext uri="{FF2B5EF4-FFF2-40B4-BE49-F238E27FC236}">
                <a16:creationId xmlns:a16="http://schemas.microsoft.com/office/drawing/2014/main" id="{5772C217-70FA-264C-2F87-400CFC224A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7578" y="2210549"/>
            <a:ext cx="3072690" cy="3072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6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338" y="1196207"/>
            <a:ext cx="10835287" cy="714375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04333" y="2344719"/>
            <a:ext cx="542671" cy="542671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33217" y="2473179"/>
            <a:ext cx="284902" cy="28575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24594" y="2344719"/>
            <a:ext cx="542671" cy="542671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36520" y="2473179"/>
            <a:ext cx="318819" cy="2857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44856" y="2344719"/>
            <a:ext cx="542670" cy="542671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636432" y="2473179"/>
            <a:ext cx="359519" cy="2857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8338" y="4386517"/>
            <a:ext cx="10835287" cy="1031075"/>
          </a:xfrm>
          <a:prstGeom prst="rect">
            <a:avLst/>
          </a:prstGeom>
        </p:spPr>
      </p:pic>
      <p:sp>
        <p:nvSpPr>
          <p:cNvPr id="11" name="Text 0"/>
          <p:cNvSpPr/>
          <p:nvPr/>
        </p:nvSpPr>
        <p:spPr>
          <a:xfrm>
            <a:off x="678338" y="924872"/>
            <a:ext cx="10835287" cy="1899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1496"/>
              </a:lnSpc>
              <a:buNone/>
            </a:pPr>
            <a:r>
              <a:rPr lang="en-US" sz="1500" b="1" kern="0" spc="168" dirty="0">
                <a:solidFill>
                  <a:srgbClr val="A52A2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2" name="Text 1"/>
          <p:cNvSpPr/>
          <p:nvPr/>
        </p:nvSpPr>
        <p:spPr>
          <a:xfrm>
            <a:off x="895407" y="1196207"/>
            <a:ext cx="17781884" cy="71437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>
              <a:lnSpc>
                <a:spcPts val="5625"/>
              </a:lnSpc>
              <a:buNone/>
            </a:pPr>
            <a:r>
              <a:rPr lang="en-US" sz="45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한자, 동아시아의 마음을 잇는 다리</a:t>
            </a:r>
            <a:endParaRPr lang="en-US" sz="4500" dirty="0"/>
          </a:p>
        </p:txBody>
      </p:sp>
      <p:sp>
        <p:nvSpPr>
          <p:cNvPr id="13" name="Text 2"/>
          <p:cNvSpPr/>
          <p:nvPr/>
        </p:nvSpPr>
        <p:spPr>
          <a:xfrm>
            <a:off x="1220095" y="3050191"/>
            <a:ext cx="2311146" cy="217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0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소리의 흔적</a:t>
            </a:r>
            <a:endParaRPr lang="en-US" sz="1800" dirty="0"/>
          </a:p>
        </p:txBody>
      </p:sp>
      <p:sp>
        <p:nvSpPr>
          <p:cNvPr id="14" name="Text 3"/>
          <p:cNvSpPr/>
          <p:nvPr/>
        </p:nvSpPr>
        <p:spPr>
          <a:xfrm>
            <a:off x="1276760" y="3348659"/>
            <a:ext cx="2197816" cy="4951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입성(入聲)이라는 타임캡슐을 통해
천 년의 시간을 넘어 공유되는 발음</a:t>
            </a:r>
            <a:endParaRPr lang="en-US" sz="1200" dirty="0"/>
          </a:p>
        </p:txBody>
      </p:sp>
      <p:sp>
        <p:nvSpPr>
          <p:cNvPr id="15" name="Text 4"/>
          <p:cNvSpPr/>
          <p:nvPr/>
        </p:nvSpPr>
        <p:spPr>
          <a:xfrm>
            <a:off x="4940356" y="3050191"/>
            <a:ext cx="2311146" cy="217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0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형태의 재치</a:t>
            </a:r>
            <a:endParaRPr lang="en-US" sz="1800" dirty="0"/>
          </a:p>
        </p:txBody>
      </p:sp>
      <p:sp>
        <p:nvSpPr>
          <p:cNvPr id="16" name="Text 5"/>
          <p:cNvSpPr/>
          <p:nvPr/>
        </p:nvSpPr>
        <p:spPr>
          <a:xfrm>
            <a:off x="5017372" y="3348659"/>
            <a:ext cx="2157116" cy="4951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단순한 기호를 넘어 유머와
철학을 담아내는 유연한 소통 방식</a:t>
            </a:r>
            <a:endParaRPr lang="en-US" sz="1200" dirty="0"/>
          </a:p>
        </p:txBody>
      </p:sp>
      <p:sp>
        <p:nvSpPr>
          <p:cNvPr id="17" name="Text 6"/>
          <p:cNvSpPr/>
          <p:nvPr/>
        </p:nvSpPr>
        <p:spPr>
          <a:xfrm>
            <a:off x="8660618" y="3050191"/>
            <a:ext cx="2311146" cy="217068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709"/>
              </a:lnSpc>
              <a:buNone/>
            </a:pPr>
            <a:r>
              <a:rPr lang="en-US" sz="1800" b="1" dirty="0">
                <a:solidFill>
                  <a:srgbClr val="333333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문화적 유대</a:t>
            </a:r>
            <a:endParaRPr lang="en-US" sz="1800" dirty="0"/>
          </a:p>
        </p:txBody>
      </p:sp>
      <p:sp>
        <p:nvSpPr>
          <p:cNvPr id="18" name="Text 7"/>
          <p:cNvSpPr/>
          <p:nvPr/>
        </p:nvSpPr>
        <p:spPr>
          <a:xfrm>
            <a:off x="8829209" y="3348659"/>
            <a:ext cx="1973964" cy="495187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5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국경과 언어의 장벽을 허물고
동아시아인의 마음을 잇는 가교</a:t>
            </a:r>
            <a:endParaRPr lang="en-US" sz="1200" dirty="0"/>
          </a:p>
        </p:txBody>
      </p:sp>
      <p:sp>
        <p:nvSpPr>
          <p:cNvPr id="19" name="Text 8"/>
          <p:cNvSpPr/>
          <p:nvPr/>
        </p:nvSpPr>
        <p:spPr>
          <a:xfrm>
            <a:off x="-2089379" y="4657852"/>
            <a:ext cx="16370617" cy="244202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923"/>
              </a:lnSpc>
              <a:buNone/>
            </a:pP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한자는 단순한 암기 대상이 아닌, </a:t>
            </a:r>
            <a:r>
              <a:rPr lang="en-US" sz="2250" b="1" dirty="0">
                <a:solidFill>
                  <a:srgbClr val="A52A2A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살아있는 문화적 유산</a:t>
            </a:r>
            <a:r>
              <a:rPr lang="en-US" sz="2250" b="1" dirty="0">
                <a:solidFill>
                  <a:srgbClr val="1F2937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입니다.</a:t>
            </a:r>
            <a:endParaRPr lang="en-US" sz="2250" dirty="0"/>
          </a:p>
        </p:txBody>
      </p:sp>
      <p:sp>
        <p:nvSpPr>
          <p:cNvPr id="20" name="Text 9"/>
          <p:cNvSpPr/>
          <p:nvPr/>
        </p:nvSpPr>
        <p:spPr>
          <a:xfrm>
            <a:off x="-163417" y="4956321"/>
            <a:ext cx="12518693" cy="189934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ctr">
              <a:lnSpc>
                <a:spcPts val="1496"/>
              </a:lnSpc>
              <a:buNone/>
            </a:pPr>
            <a:r>
              <a:rPr lang="en-US" sz="15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시공간을 초월하여 동아시아의 내일을 함께 그려나가는 소중한 열쇠입니다.</a:t>
            </a:r>
            <a:endParaRPr lang="en-US" sz="1500" dirty="0"/>
          </a:p>
        </p:txBody>
      </p:sp>
      <p:sp>
        <p:nvSpPr>
          <p:cNvPr id="21" name="Text 10"/>
          <p:cNvSpPr/>
          <p:nvPr/>
        </p:nvSpPr>
        <p:spPr>
          <a:xfrm>
            <a:off x="678338" y="5743194"/>
            <a:ext cx="10835287" cy="18993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ctr"/>
          <a:lstStyle/>
          <a:p>
            <a:pPr marL="0" indent="0" algn="r">
              <a:lnSpc>
                <a:spcPts val="1496"/>
              </a:lnSpc>
              <a:buNone/>
            </a:pPr>
            <a:r>
              <a:rPr lang="en-US" sz="1350" i="1" kern="0" spc="152" dirty="0">
                <a:solidFill>
                  <a:srgbClr val="9CA3AF"/>
                </a:solidFill>
                <a:latin typeface="Noto Serif KR" pitchFamily="34" charset="0"/>
                <a:ea typeface="Noto Serif KR" pitchFamily="34" charset="-122"/>
                <a:cs typeface="Noto Serif KR" pitchFamily="34" charset="-120"/>
              </a:rPr>
              <a:t>감사합니다.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CCE8C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CCE8C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683</Words>
  <Application>Microsoft Office PowerPoint</Application>
  <PresentationFormat>宽屏</PresentationFormat>
  <Paragraphs>167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Nanum Myeongjo</vt:lpstr>
      <vt:lpstr>Noto Sans KR</vt:lpstr>
      <vt:lpstr>Noto Serif KR</vt:lpstr>
      <vt:lpstr>Pretendard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瀚庆 吴</cp:lastModifiedBy>
  <cp:revision>12</cp:revision>
  <dcterms:created xsi:type="dcterms:W3CDTF">2026-03-16T12:04:33Z</dcterms:created>
  <dcterms:modified xsi:type="dcterms:W3CDTF">2026-03-16T12:36:25Z</dcterms:modified>
</cp:coreProperties>
</file>